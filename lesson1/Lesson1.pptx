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5143500" cx="9144000"/>
  <p:notesSz cx="6858000" cy="9144000"/>
  <p:embeddedFontLst>
    <p:embeddedFont>
      <p:font typeface="Roboto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7" roundtripDataSignature="AMtx7mjOOKsci/YV+FluhQfvyluQT/kU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EF3DDD9-591A-4796-8D3F-99D379365EE9}">
  <a:tblStyle styleId="{2EF3DDD9-591A-4796-8D3F-99D379365EE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Roboto-regular.fntdata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Roboto-italic.fntdata"/><Relationship Id="rId12" Type="http://schemas.openxmlformats.org/officeDocument/2006/relationships/slide" Target="slides/slide6.xml"/><Relationship Id="rId34" Type="http://schemas.openxmlformats.org/officeDocument/2006/relationships/font" Target="fonts/Roboto-bold.fntdata"/><Relationship Id="rId15" Type="http://schemas.openxmlformats.org/officeDocument/2006/relationships/slide" Target="slides/slide9.xml"/><Relationship Id="rId37" Type="http://customschemas.google.com/relationships/presentationmetadata" Target="metadata"/><Relationship Id="rId14" Type="http://schemas.openxmlformats.org/officeDocument/2006/relationships/slide" Target="slides/slide8.xml"/><Relationship Id="rId36" Type="http://schemas.openxmlformats.org/officeDocument/2006/relationships/font" Target="fonts/Roboto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4a4261da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g3b4a4261da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4a4261da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b4a4261da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/>
          <p:nvPr>
            <p:ph idx="2" type="sldImg"/>
          </p:nvPr>
        </p:nvSpPr>
        <p:spPr>
          <a:xfrm>
            <a:off x="857406" y="685797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7:notes"/>
          <p:cNvSpPr txBox="1"/>
          <p:nvPr>
            <p:ph idx="1" type="body"/>
          </p:nvPr>
        </p:nvSpPr>
        <p:spPr>
          <a:xfrm>
            <a:off x="685792" y="4343391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If we create layers of neurons and connect them to subsequent layers, what we end up with is a neural network.  This is a powerful concept- each of these neurons is a non linear function, and taken together, this network  can model any function in the world.  The process of discovering the optimal weights of these networks for a given problem is called backpropagation.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Each layer processes information and outputs  a summarized data, which is further processed till a final output layer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Now we can frame the next token given a current phrase as a classification problem.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5.jpg"/><Relationship Id="rId4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s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9"/>
          <p:cNvSpPr txBox="1"/>
          <p:nvPr>
            <p:ph type="title"/>
          </p:nvPr>
        </p:nvSpPr>
        <p:spPr>
          <a:xfrm>
            <a:off x="950708" y="432186"/>
            <a:ext cx="7358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00" lIns="81625" spcFirstLastPara="1" rIns="81625" wrap="square" tIns="408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187B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29"/>
          <p:cNvSpPr txBox="1"/>
          <p:nvPr>
            <p:ph idx="1" type="body"/>
          </p:nvPr>
        </p:nvSpPr>
        <p:spPr>
          <a:xfrm>
            <a:off x="457200" y="971551"/>
            <a:ext cx="8229600" cy="3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0800" lIns="81625" spcFirstLastPara="1" rIns="81625" wrap="square" tIns="40800">
            <a:normAutofit/>
          </a:bodyPr>
          <a:lstStyle>
            <a:lvl1pPr indent="-355600" lvl="0" marL="457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>
                <a:solidFill>
                  <a:srgbClr val="595959"/>
                </a:solidFill>
              </a:defRPr>
            </a:lvl1pPr>
            <a:lvl2pPr indent="-330200" lvl="1" marL="914400" algn="l">
              <a:lnSpc>
                <a:spcPct val="115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Avenir"/>
              <a:buChar char="○"/>
              <a:defRPr sz="1600">
                <a:solidFill>
                  <a:srgbClr val="595959"/>
                </a:solidFill>
              </a:defRPr>
            </a:lvl2pPr>
            <a:lvl3pPr indent="-330200" lvl="2" marL="1371600" algn="l">
              <a:lnSpc>
                <a:spcPct val="115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■"/>
              <a:defRPr sz="1600">
                <a:solidFill>
                  <a:srgbClr val="595959"/>
                </a:solidFill>
              </a:defRPr>
            </a:lvl3pPr>
            <a:lvl4pPr indent="-330200" lvl="3" marL="1828800" algn="l">
              <a:lnSpc>
                <a:spcPct val="115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●"/>
              <a:defRPr sz="1600">
                <a:solidFill>
                  <a:srgbClr val="595959"/>
                </a:solidFill>
              </a:defRPr>
            </a:lvl4pPr>
            <a:lvl5pPr indent="-330200" lvl="4" marL="2286000" algn="l">
              <a:lnSpc>
                <a:spcPct val="115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○"/>
              <a:defRPr sz="1600">
                <a:solidFill>
                  <a:srgbClr val="595959"/>
                </a:solidFill>
              </a:defRPr>
            </a:lvl5pPr>
            <a:lvl6pPr indent="-342900" lvl="5" marL="27432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grpSp>
        <p:nvGrpSpPr>
          <p:cNvPr id="23" name="Google Shape;23;p29"/>
          <p:cNvGrpSpPr/>
          <p:nvPr/>
        </p:nvGrpSpPr>
        <p:grpSpPr>
          <a:xfrm rot="10800000">
            <a:off x="-138279" y="547609"/>
            <a:ext cx="952685" cy="111968"/>
            <a:chOff x="15544800" y="736600"/>
            <a:chExt cx="3890098" cy="457200"/>
          </a:xfrm>
        </p:grpSpPr>
        <p:sp>
          <p:nvSpPr>
            <p:cNvPr id="24" name="Google Shape;24;p29"/>
            <p:cNvSpPr/>
            <p:nvPr/>
          </p:nvSpPr>
          <p:spPr>
            <a:xfrm>
              <a:off x="15544800" y="736600"/>
              <a:ext cx="457200" cy="457200"/>
            </a:xfrm>
            <a:prstGeom prst="ellipse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25"/>
                <a:buFont typeface="Arial"/>
                <a:buNone/>
              </a:pPr>
              <a:r>
                <a:t/>
              </a:r>
              <a:endParaRPr b="1" i="0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" name="Google Shape;25;p29"/>
            <p:cNvCxnSpPr/>
            <p:nvPr/>
          </p:nvCxnSpPr>
          <p:spPr>
            <a:xfrm>
              <a:off x="16001998" y="965200"/>
              <a:ext cx="3432900" cy="0"/>
            </a:xfrm>
            <a:prstGeom prst="straightConnector1">
              <a:avLst/>
            </a:prstGeom>
            <a:solidFill>
              <a:schemeClr val="accent1"/>
            </a:solidFill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3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3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" name="Google Shape;36;p3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3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4" name="Google Shape;44;p3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5" name="Google Shape;45;p3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" name="Google Shape;46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9" name="Google Shape;49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p3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42874" y="0"/>
            <a:ext cx="9284494" cy="52578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38"/>
          <p:cNvSpPr txBox="1"/>
          <p:nvPr>
            <p:ph type="title"/>
          </p:nvPr>
        </p:nvSpPr>
        <p:spPr>
          <a:xfrm>
            <a:off x="405000" y="405001"/>
            <a:ext cx="83784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300"/>
              <a:buFont typeface="Avenir"/>
              <a:buNone/>
              <a:defRPr sz="30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 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671"/>
            <a:ext cx="9139238" cy="5140818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40"/>
          <p:cNvSpPr txBox="1"/>
          <p:nvPr>
            <p:ph idx="1" type="body"/>
          </p:nvPr>
        </p:nvSpPr>
        <p:spPr>
          <a:xfrm>
            <a:off x="535063" y="405002"/>
            <a:ext cx="80700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99CC"/>
              </a:buClr>
              <a:buSzPts val="2000"/>
              <a:buFont typeface="Arial"/>
              <a:buNone/>
              <a:defRPr b="1" i="0" sz="2700" u="none" cap="none" strike="noStrike">
                <a:solidFill>
                  <a:srgbClr val="0099C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None/>
              <a:defRPr b="0" i="0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None/>
              <a:defRPr b="0" i="0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None/>
              <a:defRPr b="0" i="0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None/>
              <a:defRPr b="0" i="0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40"/>
          <p:cNvSpPr txBox="1"/>
          <p:nvPr>
            <p:ph idx="2" type="body"/>
          </p:nvPr>
        </p:nvSpPr>
        <p:spPr>
          <a:xfrm>
            <a:off x="535063" y="1001268"/>
            <a:ext cx="8067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  <a:defRPr b="0" i="0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urier New"/>
              <a:buChar char="o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64" name="Google Shape;64;p40"/>
          <p:cNvGrpSpPr/>
          <p:nvPr/>
        </p:nvGrpSpPr>
        <p:grpSpPr>
          <a:xfrm>
            <a:off x="-1" y="4719175"/>
            <a:ext cx="9143963" cy="424385"/>
            <a:chOff x="1" y="6298584"/>
            <a:chExt cx="12188700" cy="565847"/>
          </a:xfrm>
        </p:grpSpPr>
        <p:sp>
          <p:nvSpPr>
            <p:cNvPr id="65" name="Google Shape;65;p40"/>
            <p:cNvSpPr/>
            <p:nvPr/>
          </p:nvSpPr>
          <p:spPr>
            <a:xfrm>
              <a:off x="1" y="6328882"/>
              <a:ext cx="12188700" cy="529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25700" lIns="51425" spcFirstLastPara="1" rIns="51425" wrap="square" tIns="2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40"/>
            <p:cNvSpPr txBox="1"/>
            <p:nvPr/>
          </p:nvSpPr>
          <p:spPr>
            <a:xfrm>
              <a:off x="209759" y="6335231"/>
              <a:ext cx="337500" cy="52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600"/>
                <a:buFont typeface="Arial"/>
                <a:buNone/>
              </a:pPr>
              <a:fld id="{00000000-1234-1234-1234-123412341234}" type="slidenum">
                <a:rPr b="0" i="0" lang="en" sz="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‹#›</a:t>
              </a:fld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40"/>
            <p:cNvSpPr/>
            <p:nvPr/>
          </p:nvSpPr>
          <p:spPr>
            <a:xfrm>
              <a:off x="579195" y="6328882"/>
              <a:ext cx="2540700" cy="52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600"/>
                <a:buFont typeface="Arial"/>
                <a:buNone/>
              </a:pPr>
              <a:r>
                <a:rPr b="0" i="0" lang="en" sz="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© 2022 Akamai | Confidential</a:t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close up of a logo&#10;&#10;Description automatically generated" id="68" name="Google Shape;68;p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696451" y="6298584"/>
              <a:ext cx="2432438" cy="52464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9" name="Google Shape;69;p40"/>
          <p:cNvSpPr/>
          <p:nvPr/>
        </p:nvSpPr>
        <p:spPr>
          <a:xfrm>
            <a:off x="7364949" y="4770526"/>
            <a:ext cx="1680900" cy="32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with bullets">
  <p:cSld name="Header with bullets"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41"/>
          <p:cNvPicPr preferRelativeResize="0"/>
          <p:nvPr/>
        </p:nvPicPr>
        <p:blipFill rotWithShape="1">
          <a:blip r:embed="rId2">
            <a:alphaModFix/>
          </a:blip>
          <a:srcRect b="9615" l="0" r="0" t="0"/>
          <a:stretch/>
        </p:blipFill>
        <p:spPr>
          <a:xfrm>
            <a:off x="0" y="670"/>
            <a:ext cx="9141619" cy="4647529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41"/>
          <p:cNvSpPr txBox="1"/>
          <p:nvPr>
            <p:ph type="title"/>
          </p:nvPr>
        </p:nvSpPr>
        <p:spPr>
          <a:xfrm>
            <a:off x="405000" y="405001"/>
            <a:ext cx="83763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99CC"/>
              </a:buClr>
              <a:buSzPts val="2700"/>
              <a:buFont typeface="Arial"/>
              <a:buNone/>
              <a:defRPr sz="2700">
                <a:solidFill>
                  <a:srgbClr val="0099C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41"/>
          <p:cNvSpPr txBox="1"/>
          <p:nvPr>
            <p:ph idx="1" type="body"/>
          </p:nvPr>
        </p:nvSpPr>
        <p:spPr>
          <a:xfrm>
            <a:off x="404813" y="1283186"/>
            <a:ext cx="8376300" cy="33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19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>
                <a:solidFill>
                  <a:schemeClr val="dk1"/>
                </a:solidFill>
              </a:defRPr>
            </a:lvl2pPr>
            <a:lvl3pPr indent="-3238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crew.ai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github.com/prizmaweb/llm_course/blob/main/install.txt" TargetMode="External"/><Relationship Id="rId4" Type="http://schemas.openxmlformats.org/officeDocument/2006/relationships/hyperlink" Target="https://github.com/prizmaweb/llm_course/blob/main/requirements.txt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"/>
          <p:cNvSpPr txBox="1"/>
          <p:nvPr>
            <p:ph type="ctrTitle"/>
          </p:nvPr>
        </p:nvSpPr>
        <p:spPr>
          <a:xfrm>
            <a:off x="311700" y="1927350"/>
            <a:ext cx="8520600" cy="112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600">
                <a:solidFill>
                  <a:srgbClr val="0099CC"/>
                </a:solidFill>
                <a:latin typeface="Calibri"/>
                <a:ea typeface="Calibri"/>
                <a:cs typeface="Calibri"/>
                <a:sym typeface="Calibri"/>
              </a:rPr>
              <a:t>LLM Course: Session 1</a:t>
            </a:r>
            <a:endParaRPr sz="3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Course goal</a:t>
            </a:r>
            <a:endParaRPr/>
          </a:p>
        </p:txBody>
      </p:sp>
      <p:sp>
        <p:nvSpPr>
          <p:cNvPr id="84" name="Google Shape;84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A hands on introduction to LLMs ( LLM inference with open AI and open source Hugging Face models,Function calling LLMs, RAG, LLM fine tuning) 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Expects you to know what vectors are and what a dot product is.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Past deep learning, NLP  exposure is obviously helpful.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/>
              <a:t>Will not cover MCPs, Agents , Langgraph, </a:t>
            </a:r>
            <a:r>
              <a:rPr lang="en" u="sng">
                <a:solidFill>
                  <a:schemeClr val="hlink"/>
                </a:solidFill>
                <a:hlinkClick r:id="rId3"/>
              </a:rPr>
              <a:t>Crew.ai</a:t>
            </a:r>
            <a:r>
              <a:rPr lang="en"/>
              <a:t> , autogen. 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4a4261da7_0_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What will we cover ?</a:t>
            </a:r>
            <a:endParaRPr/>
          </a:p>
        </p:txBody>
      </p:sp>
      <p:sp>
        <p:nvSpPr>
          <p:cNvPr id="90" name="Google Shape;90;g3b4a4261da7_0_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Session 1:  Quick review of ML, Neural  networks, Text Processing , environment setup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Session 2:  LLM inference using Open AI and Ollama Jupyter notebook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Session 3:  Gradio, Function calling LLMs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Session 4: HuggingFace Open source LLMs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Session 5: RAG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/>
              <a:t>Session 6:  LLM fine tuning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4a4261da7_0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Environment and account setup</a:t>
            </a:r>
            <a:endParaRPr/>
          </a:p>
        </p:txBody>
      </p:sp>
      <p:sp>
        <p:nvSpPr>
          <p:cNvPr id="96" name="Google Shape;96;g3b4a4261da7_0_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Follow instructions here: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https://github.com/prizmaweb/llm_course/blob/main/install.txt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Above includes step to p</a:t>
            </a:r>
            <a:r>
              <a:rPr lang="en"/>
              <a:t>ip install a list of needed packages given here: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https://github.com/prizmaweb/llm_course/blob/main/requirements.txt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Download Ollama on your mac/PC.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an Open AI account ( optional)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Basic ML, Neural Networks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 txBox="1"/>
          <p:nvPr>
            <p:ph type="title"/>
          </p:nvPr>
        </p:nvSpPr>
        <p:spPr>
          <a:xfrm>
            <a:off x="950708" y="432186"/>
            <a:ext cx="7358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00" lIns="81625" spcFirstLastPara="1" rIns="81625" wrap="square" tIns="408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How much would you pay for 1300 sq Ft in BTM ?</a:t>
            </a:r>
            <a:endParaRPr/>
          </a:p>
        </p:txBody>
      </p:sp>
      <p:graphicFrame>
        <p:nvGraphicFramePr>
          <p:cNvPr id="107" name="Google Shape;107;p4"/>
          <p:cNvGraphicFramePr/>
          <p:nvPr/>
        </p:nvGraphicFramePr>
        <p:xfrm>
          <a:off x="950700" y="114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{2EF3DDD9-591A-4796-8D3F-99D379365EE9}</a:tableStyleId>
              </a:tblPr>
              <a:tblGrid>
                <a:gridCol w="1510225"/>
                <a:gridCol w="1510225"/>
              </a:tblGrid>
              <a:tr h="355425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chemeClr val="dk1"/>
                          </a:solidFill>
                        </a:rPr>
                        <a:t>Housing prices in BTM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 hMerge="1"/>
              </a:tr>
              <a:tr h="303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Size ( square Feet)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Price (Lakhs)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03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2000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105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03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1600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185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03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3300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310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03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1000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55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03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920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52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03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1540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75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03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FF0000"/>
                          </a:solidFill>
                        </a:rPr>
                        <a:t>1300</a:t>
                      </a:r>
                      <a:endParaRPr b="1" sz="1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FF0000"/>
                          </a:solidFill>
                        </a:rPr>
                        <a:t>?</a:t>
                      </a:r>
                      <a:endParaRPr b="1" sz="1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08" name="Google Shape;108;p4"/>
          <p:cNvPicPr preferRelativeResize="0"/>
          <p:nvPr/>
        </p:nvPicPr>
        <p:blipFill rotWithShape="1">
          <a:blip r:embed="rId3">
            <a:alphaModFix/>
          </a:blip>
          <a:srcRect b="0" l="0" r="3798" t="3799"/>
          <a:stretch/>
        </p:blipFill>
        <p:spPr>
          <a:xfrm>
            <a:off x="4200698" y="1503425"/>
            <a:ext cx="4830450" cy="313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 txBox="1"/>
          <p:nvPr>
            <p:ph type="title"/>
          </p:nvPr>
        </p:nvSpPr>
        <p:spPr>
          <a:xfrm>
            <a:off x="950708" y="432186"/>
            <a:ext cx="7358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00" lIns="81625" spcFirstLastPara="1" rIns="81625" wrap="square" tIns="408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A Basic Machine learning workflow</a:t>
            </a:r>
            <a:endParaRPr/>
          </a:p>
        </p:txBody>
      </p:sp>
      <p:pic>
        <p:nvPicPr>
          <p:cNvPr id="114" name="Google Shape;11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1874075"/>
            <a:ext cx="7648575" cy="2514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5"/>
          <p:cNvSpPr txBox="1"/>
          <p:nvPr>
            <p:ph idx="1" type="body"/>
          </p:nvPr>
        </p:nvSpPr>
        <p:spPr>
          <a:xfrm>
            <a:off x="457200" y="971551"/>
            <a:ext cx="8229600" cy="3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0800" lIns="81625" spcFirstLastPara="1" rIns="81625" wrap="square" tIns="408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edia/image3.jpeg" id="120" name="Google Shape;12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5081" y="1734989"/>
            <a:ext cx="7893847" cy="2486564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6"/>
          <p:cNvSpPr txBox="1"/>
          <p:nvPr>
            <p:ph type="title"/>
          </p:nvPr>
        </p:nvSpPr>
        <p:spPr>
          <a:xfrm>
            <a:off x="950708" y="432186"/>
            <a:ext cx="7358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7857"/>
              <a:buFont typeface="Calibri"/>
              <a:buNone/>
            </a:pPr>
            <a:r>
              <a:rPr lang="en"/>
              <a:t>Data is split into training, validation, test sets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"/>
          <p:cNvSpPr txBox="1"/>
          <p:nvPr>
            <p:ph type="title"/>
          </p:nvPr>
        </p:nvSpPr>
        <p:spPr>
          <a:xfrm>
            <a:off x="950708" y="432186"/>
            <a:ext cx="7358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00" lIns="81625" spcFirstLastPara="1" rIns="81625" wrap="square" tIns="408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39285"/>
              <a:buFont typeface="Arial"/>
              <a:buNone/>
            </a:pPr>
            <a:r>
              <a:rPr lang="en"/>
              <a:t>The Model: Linear regression example</a:t>
            </a:r>
            <a:endParaRPr/>
          </a:p>
        </p:txBody>
      </p:sp>
      <p:sp>
        <p:nvSpPr>
          <p:cNvPr id="127" name="Google Shape;127;p7"/>
          <p:cNvSpPr txBox="1"/>
          <p:nvPr>
            <p:ph idx="1" type="body"/>
          </p:nvPr>
        </p:nvSpPr>
        <p:spPr>
          <a:xfrm>
            <a:off x="457200" y="845398"/>
            <a:ext cx="8229600" cy="7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0800" lIns="81625" spcFirstLastPara="1" rIns="81625" wrap="square" tIns="40800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1500"/>
              <a:t>A model is a function that approximates the observed phenomena.  It  has some (initially) unknown parameters  ( called ‘weights’) </a:t>
            </a:r>
            <a:endParaRPr sz="1500"/>
          </a:p>
          <a:p>
            <a:pPr indent="0" lvl="0" marL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pic>
        <p:nvPicPr>
          <p:cNvPr descr="https://cdn-images-1.medium.com/max/800/1*XfDb8XhzTy1nVnwSy1mv6g.png" id="128" name="Google Shape;12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3936" y="1835085"/>
            <a:ext cx="2750344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7"/>
          <p:cNvSpPr txBox="1"/>
          <p:nvPr/>
        </p:nvSpPr>
        <p:spPr>
          <a:xfrm>
            <a:off x="4333550" y="1856250"/>
            <a:ext cx="3000000" cy="715500"/>
          </a:xfrm>
          <a:prstGeom prst="rect">
            <a:avLst/>
          </a:prstGeom>
          <a:noFill/>
          <a:ln cap="flat" cmpd="sng" w="285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494949"/>
                </a:solidFill>
                <a:latin typeface="Arial"/>
                <a:ea typeface="Arial"/>
                <a:cs typeface="Arial"/>
                <a:sym typeface="Arial"/>
              </a:rPr>
              <a:t>Y = </a:t>
            </a:r>
            <a:r>
              <a:rPr b="1" i="0" lang="en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0.1051</a:t>
            </a:r>
            <a:r>
              <a:rPr b="0" i="0" lang="en" sz="1800" u="none" cap="none" strike="noStrike">
                <a:solidFill>
                  <a:srgbClr val="494949"/>
                </a:solidFill>
                <a:latin typeface="Arial"/>
                <a:ea typeface="Arial"/>
                <a:cs typeface="Arial"/>
                <a:sym typeface="Arial"/>
              </a:rPr>
              <a:t>*X </a:t>
            </a:r>
            <a:r>
              <a:rPr b="0" i="0" lang="en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- 51.06</a:t>
            </a:r>
            <a:endParaRPr b="0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7"/>
          <p:cNvSpPr txBox="1"/>
          <p:nvPr>
            <p:ph idx="1" type="body"/>
          </p:nvPr>
        </p:nvSpPr>
        <p:spPr>
          <a:xfrm>
            <a:off x="515100" y="2700918"/>
            <a:ext cx="8229600" cy="11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0800" lIns="81625" spcFirstLastPara="1" rIns="81625" wrap="square" tIns="40800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Cost Function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1500"/>
              <a:t>A function that tracks the  model output’s deviation from the actual values. Needed to learn the optimal model  parameters.</a:t>
            </a:r>
            <a:endParaRPr sz="1500"/>
          </a:p>
          <a:p>
            <a:pPr indent="0" lvl="0" marL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pic>
        <p:nvPicPr>
          <p:cNvPr descr="https://cdn-images-1.medium.com/max/800/1*20m_U-H6EIcxlN2k07Z7oQ.png" id="131" name="Google Shape;13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2386" y="3893385"/>
            <a:ext cx="3143250" cy="10429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8432" y="1539061"/>
            <a:ext cx="4248058" cy="22727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947" y="1539062"/>
            <a:ext cx="4789550" cy="2493564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8"/>
          <p:cNvSpPr txBox="1"/>
          <p:nvPr/>
        </p:nvSpPr>
        <p:spPr>
          <a:xfrm>
            <a:off x="733646" y="4218465"/>
            <a:ext cx="3570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Cost function plot with respect to input variables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8"/>
          <p:cNvSpPr txBox="1"/>
          <p:nvPr/>
        </p:nvSpPr>
        <p:spPr>
          <a:xfrm>
            <a:off x="5236996" y="4218465"/>
            <a:ext cx="3570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Cost function plot with respect to input variables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8"/>
          <p:cNvSpPr txBox="1"/>
          <p:nvPr/>
        </p:nvSpPr>
        <p:spPr>
          <a:xfrm>
            <a:off x="42947" y="4670081"/>
            <a:ext cx="90282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Moving in the opposite direction to gradient should lead us to the lowest point(s)!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8"/>
          <p:cNvSpPr txBox="1"/>
          <p:nvPr>
            <p:ph type="title"/>
          </p:nvPr>
        </p:nvSpPr>
        <p:spPr>
          <a:xfrm>
            <a:off x="950700" y="432156"/>
            <a:ext cx="7358400" cy="94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00" lIns="81625" spcFirstLastPara="1" rIns="81625" wrap="square" tIns="408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Gradient Descent: The best solution lies where cost function is lowest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"/>
          <p:cNvSpPr txBox="1"/>
          <p:nvPr>
            <p:ph type="title"/>
          </p:nvPr>
        </p:nvSpPr>
        <p:spPr>
          <a:xfrm>
            <a:off x="950708" y="432186"/>
            <a:ext cx="7358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00" lIns="81625" spcFirstLastPara="1" rIns="81625" wrap="square" tIns="408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A mathematical model of a  single neuron</a:t>
            </a:r>
            <a:endParaRPr/>
          </a:p>
        </p:txBody>
      </p:sp>
      <p:pic>
        <p:nvPicPr>
          <p:cNvPr id="147" name="Google Shape;14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8600" y="1901850"/>
            <a:ext cx="3860195" cy="220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4800" y="1901850"/>
            <a:ext cx="4415274" cy="227867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9"/>
          <p:cNvSpPr txBox="1"/>
          <p:nvPr/>
        </p:nvSpPr>
        <p:spPr>
          <a:xfrm>
            <a:off x="1937700" y="4389125"/>
            <a:ext cx="5268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38100" marR="38100" rtl="0" algn="just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575651"/>
                </a:solidFill>
                <a:latin typeface="Arial"/>
                <a:ea typeface="Arial"/>
                <a:cs typeface="Arial"/>
                <a:sym typeface="Arial"/>
              </a:rPr>
              <a:t>A drawing of a biological neuron (left) and its mathematical model (right).</a:t>
            </a:r>
            <a:endParaRPr b="0" i="0" sz="1050" u="none" cap="none" strike="noStrike">
              <a:solidFill>
                <a:srgbClr val="57565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"/>
          <p:cNvSpPr txBox="1"/>
          <p:nvPr>
            <p:ph type="title"/>
          </p:nvPr>
        </p:nvSpPr>
        <p:spPr>
          <a:xfrm>
            <a:off x="950700" y="432177"/>
            <a:ext cx="7358400" cy="74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00" lIns="81625" spcFirstLastPara="1" rIns="81625" wrap="square" tIns="408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A neural net : many layers of connected neurons </a:t>
            </a:r>
            <a:endParaRPr/>
          </a:p>
        </p:txBody>
      </p:sp>
      <p:pic>
        <p:nvPicPr>
          <p:cNvPr id="155" name="Google Shape;15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4863" y="1204200"/>
            <a:ext cx="7534275" cy="3695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" name="Google Shape;156;p10"/>
          <p:cNvCxnSpPr/>
          <p:nvPr/>
        </p:nvCxnSpPr>
        <p:spPr>
          <a:xfrm flipH="1" rot="10800000">
            <a:off x="6665100" y="1476475"/>
            <a:ext cx="56700" cy="342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7" name="Google Shape;157;p10"/>
          <p:cNvCxnSpPr/>
          <p:nvPr/>
        </p:nvCxnSpPr>
        <p:spPr>
          <a:xfrm>
            <a:off x="2123375" y="1351725"/>
            <a:ext cx="192900" cy="55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8" name="Google Shape;158;p10"/>
          <p:cNvSpPr txBox="1"/>
          <p:nvPr/>
        </p:nvSpPr>
        <p:spPr>
          <a:xfrm>
            <a:off x="1339950" y="1181400"/>
            <a:ext cx="14421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weights go here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1"/>
          <p:cNvSpPr txBox="1"/>
          <p:nvPr>
            <p:ph type="title"/>
          </p:nvPr>
        </p:nvSpPr>
        <p:spPr>
          <a:xfrm>
            <a:off x="950708" y="432186"/>
            <a:ext cx="7358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00" lIns="81625" spcFirstLastPara="1" rIns="81625" wrap="square" tIns="408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Neural networks are like management hierarchies</a:t>
            </a:r>
            <a:endParaRPr/>
          </a:p>
        </p:txBody>
      </p:sp>
      <p:pic>
        <p:nvPicPr>
          <p:cNvPr id="164" name="Google Shape;16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8501" y="1859000"/>
            <a:ext cx="5753424" cy="3154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3975" y="944775"/>
            <a:ext cx="7316051" cy="4110299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Neural networks can solve classification Problems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Next token prediction given some text </a:t>
            </a:r>
            <a:endParaRPr/>
          </a:p>
        </p:txBody>
      </p:sp>
      <p:pic>
        <p:nvPicPr>
          <p:cNvPr id="176" name="Google Shape;17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57092" y="1017725"/>
            <a:ext cx="2821382" cy="4125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Text Processing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How to represent text for a Neural network?</a:t>
            </a:r>
            <a:endParaRPr/>
          </a:p>
        </p:txBody>
      </p:sp>
      <p:sp>
        <p:nvSpPr>
          <p:cNvPr id="187" name="Google Shape;18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We can represent words as discrete symbols 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Example: One hot vectors where one bit is 1, rest are 0: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hotel = [0 0 0 0 0 0 0 0 0 0 0 1 0 0 0  0]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motel = [0 0 0 1 0 0 0 0 0 0 0 0 0 0 0 0]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But: 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i="1" lang="en">
                <a:solidFill>
                  <a:schemeClr val="dk1"/>
                </a:solidFill>
                <a:highlight>
                  <a:srgbClr val="FFFFFF"/>
                </a:highlight>
              </a:rPr>
              <a:t>The vector dimension is the total # of words in the vocabulary - a problem for large vocabularies</a:t>
            </a:r>
            <a:endParaRPr i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i="1" lang="en">
                <a:solidFill>
                  <a:schemeClr val="dk1"/>
                </a:solidFill>
                <a:highlight>
                  <a:srgbClr val="FFFFFF"/>
                </a:highlight>
              </a:rPr>
              <a:t>The mapping approach  ignores word similarity completely. </a:t>
            </a:r>
            <a:endParaRPr i="1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6"/>
          <p:cNvSpPr txBox="1"/>
          <p:nvPr>
            <p:ph idx="1" type="body"/>
          </p:nvPr>
        </p:nvSpPr>
        <p:spPr>
          <a:xfrm>
            <a:off x="311700" y="388100"/>
            <a:ext cx="8520600" cy="41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i="1" lang="en" sz="1828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# One Hot Encoding Categoricals</a:t>
            </a:r>
            <a:endParaRPr i="1" sz="1828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828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books = [</a:t>
            </a:r>
            <a:r>
              <a:rPr i="1" lang="en" sz="1828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"War and Peace"</a:t>
            </a:r>
            <a:r>
              <a:rPr lang="en" sz="1828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i="1" lang="en" sz="1828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"Anna Karenina"</a:t>
            </a:r>
            <a:r>
              <a:rPr lang="en" sz="1828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endParaRPr sz="1828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828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</a:t>
            </a:r>
            <a:r>
              <a:rPr i="1" lang="en" sz="1828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"The Hitchhiker's Guide to the Galaxy"</a:t>
            </a:r>
            <a:r>
              <a:rPr lang="en" sz="1828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828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828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books_encoded = [[1, 0, 0],</a:t>
            </a:r>
            <a:endParaRPr sz="1828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828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[0, 1, 0],</a:t>
            </a:r>
            <a:endParaRPr sz="1828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828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[0, 0, 1]]</a:t>
            </a:r>
            <a:endParaRPr sz="1828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828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Similarity (dot product) between First and Second = 0</a:t>
            </a:r>
            <a:endParaRPr sz="1828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828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Similarity (dot product) between Second and Third = 0</a:t>
            </a:r>
            <a:endParaRPr sz="1828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01600" marR="101600" rtl="0" algn="l">
              <a:lnSpc>
                <a:spcPct val="135555"/>
              </a:lnSpc>
              <a:spcBef>
                <a:spcPts val="1200"/>
              </a:spcBef>
              <a:spcAft>
                <a:spcPts val="800"/>
              </a:spcAft>
              <a:buSzPts val="1800"/>
              <a:buNone/>
            </a:pPr>
            <a:r>
              <a:rPr lang="en" sz="1828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Similarity (dot product) between First and Third = 0</a:t>
            </a:r>
            <a:endParaRPr sz="16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Word Embeddings </a:t>
            </a:r>
            <a:endParaRPr/>
          </a:p>
        </p:txBody>
      </p:sp>
      <p:sp>
        <p:nvSpPr>
          <p:cNvPr id="198" name="Google Shape;198;p17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Words as dense, not one hot vectors where similar meanings words occur nearby: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books = [</a:t>
            </a:r>
            <a:r>
              <a:rPr i="1"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"War and Peace"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i="1"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"Anna Karenina"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</a:t>
            </a:r>
            <a:r>
              <a:rPr i="1"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"The Hitchhiker's Guide to the Galaxy"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books_encoded_ideal = [[0.53,  0.85],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[0.60,  0.80],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[-0.78, -0.62]]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Similarity (dot product) between First and Second = 0.99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Similarity (dot product) between Second and Third = -0.94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01600" marR="101600" rtl="0" algn="l">
              <a:lnSpc>
                <a:spcPct val="155555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Similarity (dot product) between First and Third = -0.97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35668" y="235425"/>
            <a:ext cx="4672676" cy="4672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Tokenizing Text input </a:t>
            </a:r>
            <a:endParaRPr/>
          </a:p>
        </p:txBody>
      </p:sp>
      <p:sp>
        <p:nvSpPr>
          <p:cNvPr id="209" name="Google Shape;209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Tokenizing a text is splitting it into words or subwords, which then are converted to ids through a look-up table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The tokenizer does this compression by constructing a one-to-one map of token strings (combinations of characters) to token IDs (a number).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A pretrained language model’s subword vocabulary cannot be altered: any downstream application of these models must tokenize input or generate output using the original subword vocabulary, 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Tokenizing Options</a:t>
            </a:r>
            <a:endParaRPr/>
          </a:p>
        </p:txBody>
      </p:sp>
      <p:sp>
        <p:nvSpPr>
          <p:cNvPr id="215" name="Google Shape;215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r>
              <a:rPr b="1" lang="en">
                <a:solidFill>
                  <a:srgbClr val="4B5563"/>
                </a:solidFill>
                <a:highlight>
                  <a:srgbClr val="FFFFFF"/>
                </a:highlight>
              </a:rPr>
              <a:t>Word Tokenization:</a:t>
            </a:r>
            <a:r>
              <a:rPr lang="en">
                <a:solidFill>
                  <a:srgbClr val="4B5563"/>
                </a:solidFill>
                <a:highlight>
                  <a:srgbClr val="FFFFFF"/>
                </a:highlight>
              </a:rPr>
              <a:t> Splitting text along word spaces and punctuation characters</a:t>
            </a:r>
            <a:endParaRPr>
              <a:solidFill>
                <a:srgbClr val="4B556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0"/>
              <a:buFont typeface="Arial"/>
              <a:buNone/>
            </a:pPr>
            <a:r>
              <a:rPr lang="en">
                <a:solidFill>
                  <a:srgbClr val="FF0000"/>
                </a:solidFill>
                <a:highlight>
                  <a:schemeClr val="lt1"/>
                </a:highlight>
              </a:rPr>
              <a:t>(-) very large vocabulary size</a:t>
            </a:r>
            <a:endParaRPr>
              <a:solidFill>
                <a:srgbClr val="4B556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8108"/>
              <a:buNone/>
            </a:pPr>
            <a:r>
              <a:rPr b="1" lang="en">
                <a:solidFill>
                  <a:srgbClr val="4B5563"/>
                </a:solidFill>
                <a:highlight>
                  <a:srgbClr val="FFFFFF"/>
                </a:highlight>
              </a:rPr>
              <a:t>Character tokenization</a:t>
            </a:r>
            <a:r>
              <a:rPr lang="en">
                <a:solidFill>
                  <a:srgbClr val="4B5563"/>
                </a:solidFill>
                <a:highlight>
                  <a:srgbClr val="FFFFFF"/>
                </a:highlight>
              </a:rPr>
              <a:t>: Simple and would greatly reduce memory and time complexity.  </a:t>
            </a:r>
            <a:br>
              <a:rPr lang="en">
                <a:solidFill>
                  <a:srgbClr val="4B5563"/>
                </a:solidFill>
                <a:highlight>
                  <a:srgbClr val="FFFFFF"/>
                </a:highlight>
              </a:rPr>
            </a:br>
            <a:r>
              <a:rPr lang="en">
                <a:solidFill>
                  <a:srgbClr val="FF0000"/>
                </a:solidFill>
                <a:highlight>
                  <a:srgbClr val="FFFFFF"/>
                </a:highlight>
              </a:rPr>
              <a:t>(-)</a:t>
            </a:r>
            <a:r>
              <a:rPr lang="en">
                <a:solidFill>
                  <a:srgbClr val="4B5563"/>
                </a:solidFill>
                <a:highlight>
                  <a:srgbClr val="FFFFFF"/>
                </a:highlight>
              </a:rPr>
              <a:t> But </a:t>
            </a:r>
            <a:r>
              <a:rPr lang="en">
                <a:solidFill>
                  <a:srgbClr val="FF0000"/>
                </a:solidFill>
                <a:highlight>
                  <a:srgbClr val="FFFFFF"/>
                </a:highlight>
              </a:rPr>
              <a:t>makes it  hard for the model to learn meaningful input representations</a:t>
            </a:r>
            <a:r>
              <a:rPr lang="en">
                <a:solidFill>
                  <a:srgbClr val="4B5563"/>
                </a:solidFill>
                <a:highlight>
                  <a:srgbClr val="FFFFFF"/>
                </a:highlight>
              </a:rPr>
              <a:t>. ‘T’  in itself means nothing  compared to ‘Today’ . </a:t>
            </a:r>
            <a:br>
              <a:rPr lang="en">
                <a:solidFill>
                  <a:srgbClr val="4B5563"/>
                </a:solidFill>
                <a:highlight>
                  <a:srgbClr val="FFFFFF"/>
                </a:highlight>
              </a:rPr>
            </a:br>
            <a:r>
              <a:rPr lang="en">
                <a:solidFill>
                  <a:srgbClr val="FF0000"/>
                </a:solidFill>
                <a:highlight>
                  <a:srgbClr val="FFFFFF"/>
                </a:highlight>
              </a:rPr>
              <a:t>(-) Very long sequences </a:t>
            </a:r>
            <a:endParaRPr>
              <a:solidFill>
                <a:srgbClr val="FF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8108"/>
              <a:buNone/>
            </a:pPr>
            <a:r>
              <a:rPr b="1" lang="en">
                <a:solidFill>
                  <a:srgbClr val="4B5563"/>
                </a:solidFill>
                <a:highlight>
                  <a:srgbClr val="FFFFFF"/>
                </a:highlight>
              </a:rPr>
              <a:t>Subword tokenization</a:t>
            </a:r>
            <a:r>
              <a:rPr lang="en">
                <a:solidFill>
                  <a:srgbClr val="4B5563"/>
                </a:solidFill>
                <a:highlight>
                  <a:srgbClr val="FFFFFF"/>
                </a:highlight>
              </a:rPr>
              <a:t> Frequently used words should not be split into smaller subwords but rare words should be decomposed into meaningful subwords</a:t>
            </a:r>
            <a:endParaRPr>
              <a:solidFill>
                <a:srgbClr val="4B556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08108"/>
              <a:buNone/>
            </a:pPr>
            <a:r>
              <a:rPr b="1" lang="en">
                <a:solidFill>
                  <a:srgbClr val="4B5563"/>
                </a:solidFill>
                <a:highlight>
                  <a:srgbClr val="FFFFFF"/>
                </a:highlight>
              </a:rPr>
              <a:t>Unigram Lang Model Tokenization : </a:t>
            </a:r>
            <a:r>
              <a:rPr lang="en">
                <a:solidFill>
                  <a:srgbClr val="4B5563"/>
                </a:solidFill>
                <a:highlight>
                  <a:srgbClr val="FFFFFF"/>
                </a:highlight>
              </a:rPr>
              <a:t>Begin with a superset of the final vocabulary, pruning it to desired size: (+)  Semantically relevant affixes</a:t>
            </a:r>
            <a:endParaRPr>
              <a:solidFill>
                <a:srgbClr val="4B5563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What are Large language Models?</a:t>
            </a:r>
            <a:endParaRPr/>
          </a:p>
        </p:txBody>
      </p:sp>
      <p:sp>
        <p:nvSpPr>
          <p:cNvPr id="221" name="Google Shape;22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7F7F7F"/>
                </a:solidFill>
              </a:rPr>
              <a:t>Language Models are models that are  trained   without supervision on sentence completion tasks, where a partial string is fed as input and it predicts the output: </a:t>
            </a:r>
            <a:endParaRPr sz="14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7F7F7F"/>
                </a:solidFill>
              </a:rPr>
              <a:t>“A stitch in time _____________”     </a:t>
            </a:r>
            <a:endParaRPr sz="14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7F7F7F"/>
                </a:solidFill>
              </a:rPr>
              <a:t>This is called ‘pre training’., and typically uses data consisting of Wikipedia or other internet pages.</a:t>
            </a:r>
            <a:endParaRPr sz="14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7F7F7F"/>
                </a:solidFill>
              </a:rPr>
              <a:t>The introduction of Transformers (Vaswani in 2017), allowed these models to understand a word in context of the whole sentence,, allowing  for more accurate completions.</a:t>
            </a:r>
            <a:endParaRPr sz="14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7F7F7F"/>
                </a:solidFill>
              </a:rPr>
              <a:t>Large Language Models are neural nets  that use the transformer architecture and have billions of parameters </a:t>
            </a:r>
            <a:endParaRPr sz="1400">
              <a:solidFill>
                <a:srgbClr val="7F7F7F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Text processing steps in a Large language Model</a:t>
            </a:r>
            <a:endParaRPr/>
          </a:p>
        </p:txBody>
      </p:sp>
      <p:pic>
        <p:nvPicPr>
          <p:cNvPr id="227" name="Google Shape;22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0663" y="1184525"/>
            <a:ext cx="6342666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Larger and Larger Models</a:t>
            </a:r>
            <a:endParaRPr/>
          </a:p>
        </p:txBody>
      </p:sp>
      <p:pic>
        <p:nvPicPr>
          <p:cNvPr id="233" name="Google Shape;23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15713" y="1017725"/>
            <a:ext cx="5512580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Trained on more and more data</a:t>
            </a:r>
            <a:endParaRPr/>
          </a:p>
        </p:txBody>
      </p:sp>
      <p:pic>
        <p:nvPicPr>
          <p:cNvPr id="239" name="Google Shape;23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8563" y="1218950"/>
            <a:ext cx="7966864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