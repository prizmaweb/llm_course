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Roboto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A80EA1C-7369-48E1-AB8F-27B630304526}">
  <a:tblStyle styleId="{0A80EA1C-7369-48E1-AB8F-27B63030452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regular.fntdata"/><Relationship Id="rId21" Type="http://schemas.openxmlformats.org/officeDocument/2006/relationships/slide" Target="slides/slide15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Mono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20cc096e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20cc096e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131758f7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131758f7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1d509fd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1d509fd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1d509fd4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1d509fd4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1d509fd4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1d509fd4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20cc096e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20cc096e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1d509fd4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1d509fd4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1d509fd4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1d509fd4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1e87c52b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1e87c52b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1d509fd43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1d509fd4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1d509fd4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1d509fd4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1d509fd43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1d509fd4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1d509fd43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1d509fd43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1e87c52b0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1e87c52b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20cc096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20cc096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Fine Tuning LLMs with QLORA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" sz="2600"/>
              <a:t>Does </a:t>
            </a:r>
            <a:r>
              <a:rPr lang="en" sz="2600"/>
              <a:t> your use case require Fine tuning ?</a:t>
            </a:r>
            <a:endParaRPr sz="260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Precise output formatting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Consistent response patterns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Adherence to specific guidelines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Improving </a:t>
            </a:r>
            <a:r>
              <a:rPr lang="en" sz="1200">
                <a:solidFill>
                  <a:schemeClr val="dk1"/>
                </a:solidFill>
              </a:rPr>
              <a:t>Domain-specific knowledge : “</a:t>
            </a:r>
            <a:r>
              <a:rPr i="1" lang="en" sz="1200">
                <a:solidFill>
                  <a:srgbClr val="363737"/>
                </a:solidFill>
                <a:highlight>
                  <a:srgbClr val="FFFFFF"/>
                </a:highlight>
              </a:rPr>
              <a:t>As a rule of thumb, knowledge is usually absorbed from the pretraining dataset.</a:t>
            </a:r>
            <a:r>
              <a:rPr lang="en" sz="1200">
                <a:solidFill>
                  <a:srgbClr val="363737"/>
                </a:solidFill>
                <a:highlight>
                  <a:srgbClr val="FFFFFF"/>
                </a:highlight>
              </a:rPr>
              <a:t>”(-Sebastian Raschka)  Instruction fine tuning is generally more about helping or guiding the LLM towards following instructions. </a:t>
            </a:r>
            <a:endParaRPr sz="1200">
              <a:solidFill>
                <a:srgbClr val="363737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63737"/>
                </a:solidFill>
                <a:highlight>
                  <a:srgbClr val="FFFFFF"/>
                </a:highlight>
              </a:rPr>
              <a:t>However, it's worth noting that if memory is a concern, LoRA can also be used for further pretraining existing pretrained LLMs on domain-specific datasets. </a:t>
            </a:r>
            <a:endParaRPr sz="1200">
              <a:solidFill>
                <a:srgbClr val="363737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types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A</a:t>
            </a:r>
            <a:r>
              <a:rPr i="1" lang="en" sz="1100">
                <a:solidFill>
                  <a:schemeClr val="dk1"/>
                </a:solidFill>
              </a:rPr>
              <a:t> language modeling </a:t>
            </a:r>
            <a:r>
              <a:rPr lang="en" sz="1100">
                <a:solidFill>
                  <a:schemeClr val="dk1"/>
                </a:solidFill>
              </a:rPr>
              <a:t>dataset :</a:t>
            </a: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A language modeling dataset consists of a column </a:t>
            </a:r>
            <a:r>
              <a:rPr lang="en" sz="105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"text"</a:t>
            </a: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 (or </a:t>
            </a:r>
            <a:r>
              <a:rPr lang="en" sz="105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"messages"</a:t>
            </a: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 for conversational datasets) containing a full sequence of text.</a:t>
            </a:r>
            <a:endParaRPr sz="1250">
              <a:solidFill>
                <a:srgbClr val="4A556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A </a:t>
            </a:r>
            <a:r>
              <a:rPr i="1" lang="en" sz="1100">
                <a:solidFill>
                  <a:schemeClr val="dk1"/>
                </a:solidFill>
              </a:rPr>
              <a:t>prompt-completion</a:t>
            </a:r>
            <a:r>
              <a:rPr lang="en" sz="1100">
                <a:solidFill>
                  <a:schemeClr val="dk1"/>
                </a:solidFill>
              </a:rPr>
              <a:t> dataset includes a </a:t>
            </a:r>
            <a:r>
              <a:rPr lang="en" sz="105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"prompt"</a:t>
            </a:r>
            <a:r>
              <a:rPr lang="en" sz="1100">
                <a:solidFill>
                  <a:schemeClr val="dk1"/>
                </a:solidFill>
              </a:rPr>
              <a:t> and a </a:t>
            </a:r>
            <a:r>
              <a:rPr lang="en" sz="105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"completion"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A </a:t>
            </a:r>
            <a:r>
              <a:rPr i="1" lang="en" sz="1250">
                <a:solidFill>
                  <a:srgbClr val="4A5565"/>
                </a:solidFill>
                <a:highlight>
                  <a:srgbClr val="FFFFFF"/>
                </a:highlight>
              </a:rPr>
              <a:t>preference dataset</a:t>
            </a: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 is used for tasks where the model is trained to choose between two or more possible completions to the same prompt. This dataset includes a </a:t>
            </a:r>
            <a:r>
              <a:rPr lang="en" sz="105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"prompt"</a:t>
            </a: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, a </a:t>
            </a:r>
            <a:r>
              <a:rPr lang="en" sz="105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"chosen"</a:t>
            </a: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 completion, and a </a:t>
            </a:r>
            <a:r>
              <a:rPr lang="en" sz="105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"rejected"</a:t>
            </a: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 completion.(use with RLHF or DPO)</a:t>
            </a:r>
            <a:endParaRPr sz="1250">
              <a:solidFill>
                <a:srgbClr val="4A556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An </a:t>
            </a:r>
            <a:r>
              <a:rPr i="1" lang="en" sz="1250">
                <a:solidFill>
                  <a:srgbClr val="4A5565"/>
                </a:solidFill>
                <a:highlight>
                  <a:srgbClr val="FFFFFF"/>
                </a:highlight>
              </a:rPr>
              <a:t>unpaired preference dataset</a:t>
            </a: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 is similar to a preference dataset but instead of having </a:t>
            </a:r>
            <a:r>
              <a:rPr lang="en" sz="105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"chosen"</a:t>
            </a: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 and </a:t>
            </a:r>
            <a:r>
              <a:rPr lang="en" sz="105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"rejected"</a:t>
            </a: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 completions for the same prompt, it includes a single </a:t>
            </a:r>
            <a:r>
              <a:rPr lang="en" sz="105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"completion"</a:t>
            </a: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 and a </a:t>
            </a:r>
            <a:r>
              <a:rPr lang="en" sz="105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"label"</a:t>
            </a: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 indicating whether the completion is preferred or not.</a:t>
            </a:r>
            <a:endParaRPr sz="1250">
              <a:solidFill>
                <a:srgbClr val="4A556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250">
                <a:solidFill>
                  <a:srgbClr val="4A5565"/>
                </a:solidFill>
                <a:highlight>
                  <a:srgbClr val="FFFFFF"/>
                </a:highlight>
              </a:rPr>
              <a:t>Stepwise supervision </a:t>
            </a: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datasets include multiple steps of completions, each with its own label. </a:t>
            </a:r>
            <a:endParaRPr sz="1250">
              <a:solidFill>
                <a:srgbClr val="4A556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71429"/>
              </a:lnSpc>
              <a:spcBef>
                <a:spcPts val="1900"/>
              </a:spcBef>
              <a:spcAft>
                <a:spcPts val="1900"/>
              </a:spcAft>
              <a:buNone/>
            </a:pPr>
            <a:r>
              <a:t/>
            </a:r>
            <a:endParaRPr sz="95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Format: Standard Datasets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The standard dataset format typically consists of plain text strings. The columns in the dataset vary depending on the task. </a:t>
            </a:r>
            <a:endParaRPr sz="1250">
              <a:solidFill>
                <a:srgbClr val="4A556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950">
                <a:solidFill>
                  <a:srgbClr val="A0A1A7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# prompt completion</a:t>
            </a:r>
            <a:endParaRPr sz="95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{"prompt": "The sky is",</a:t>
            </a:r>
            <a:endParaRPr sz="95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"completion": " blue."}</a:t>
            </a:r>
            <a:endParaRPr sz="95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i="1" lang="en" sz="950">
                <a:solidFill>
                  <a:srgbClr val="A0A1A7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# Stepwise supervision</a:t>
            </a:r>
            <a:endParaRPr sz="95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{"prompt": "Which number is larger, 9.8 or 9.11?",</a:t>
            </a:r>
            <a:endParaRPr sz="95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"completions": ["The fractional part of 9.8 is 0.8.",</a:t>
            </a:r>
            <a:endParaRPr sz="95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             "The fractional part of 9.11 is 0.11.",</a:t>
            </a:r>
            <a:endParaRPr sz="95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             "0.11 is greater than 0.8.",</a:t>
            </a:r>
            <a:endParaRPr sz="95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             "Hence, 9.11 &gt; 9.8."],</a:t>
            </a:r>
            <a:endParaRPr sz="95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71429"/>
              </a:lnSpc>
              <a:spcBef>
                <a:spcPts val="1900"/>
              </a:spcBef>
              <a:spcAft>
                <a:spcPts val="1900"/>
              </a:spcAft>
              <a:buNone/>
            </a:pPr>
            <a:r>
              <a:rPr lang="en" sz="9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"labels": [True, True, False, False]}</a:t>
            </a:r>
            <a:endParaRPr sz="95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Format: Conversational Datasets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Conversational datasets are used for tasks involving dialogues or chat interactions between users and assistants. Unlike standard dataset formats, these contain sequences of messages where each message has a </a:t>
            </a:r>
            <a:r>
              <a:rPr lang="en" sz="105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role</a:t>
            </a:r>
            <a:endParaRPr sz="1050">
              <a:solidFill>
                <a:srgbClr val="1880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1880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messages = [</a:t>
            </a:r>
            <a:endParaRPr sz="95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r>
              <a:rPr lang="en" sz="95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"role"</a:t>
            </a:r>
            <a:r>
              <a:rPr lang="en" sz="9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95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"user"</a:t>
            </a:r>
            <a:r>
              <a:rPr lang="en" sz="9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5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"content"</a:t>
            </a:r>
            <a:r>
              <a:rPr lang="en" sz="9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95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"Hello, how are you?"</a:t>
            </a:r>
            <a:r>
              <a:rPr lang="en" sz="9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},</a:t>
            </a:r>
            <a:endParaRPr sz="95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r>
              <a:rPr lang="en" sz="95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"role"</a:t>
            </a:r>
            <a:r>
              <a:rPr lang="en" sz="9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95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"assistant"</a:t>
            </a:r>
            <a:r>
              <a:rPr lang="en" sz="9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5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"content"</a:t>
            </a:r>
            <a:r>
              <a:rPr lang="en" sz="9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95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"I'm doing great. How can I help you today?"</a:t>
            </a:r>
            <a:r>
              <a:rPr lang="en" sz="9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},</a:t>
            </a:r>
            <a:endParaRPr sz="95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r>
              <a:rPr lang="en" sz="95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"role"</a:t>
            </a:r>
            <a:r>
              <a:rPr lang="en" sz="9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95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"user"</a:t>
            </a:r>
            <a:r>
              <a:rPr lang="en" sz="9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5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"content"</a:t>
            </a:r>
            <a:r>
              <a:rPr lang="en" sz="9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95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"I'd like to show off how chat templating works!"</a:t>
            </a:r>
            <a:r>
              <a:rPr lang="en" sz="9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},</a:t>
            </a:r>
            <a:endParaRPr sz="95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71429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95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71429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 sz="1250">
              <a:solidFill>
                <a:srgbClr val="4A5565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Loss calculation during training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a  conversational dataset, we can specify whether to train on the assistant response data alone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For a prompt completion dataset, training will only calculate loss on the completion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Conversational dataset with tool calling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800">
                <a:solidFill>
                  <a:srgbClr val="4A5565"/>
                </a:solidFill>
                <a:highlight>
                  <a:srgbClr val="FFFFFF"/>
                </a:highlight>
              </a:rPr>
              <a:t>Some chat templates support </a:t>
            </a:r>
            <a:r>
              <a:rPr i="1" lang="en" sz="4800">
                <a:solidFill>
                  <a:schemeClr val="dk1"/>
                </a:solidFill>
                <a:highlight>
                  <a:srgbClr val="FFFFFF"/>
                </a:highlight>
              </a:rPr>
              <a:t>tool calling</a:t>
            </a:r>
            <a:r>
              <a:rPr lang="en" sz="4800">
                <a:solidFill>
                  <a:srgbClr val="4A5565"/>
                </a:solidFill>
                <a:highlight>
                  <a:srgbClr val="FFFFFF"/>
                </a:highlight>
              </a:rPr>
              <a:t>, which allows the model to interact with external functions. Such datasets should specify tools in an additional column named ‘</a:t>
            </a:r>
            <a:r>
              <a:rPr lang="en" sz="4800"/>
              <a:t>tools’ in</a:t>
            </a:r>
            <a:r>
              <a:rPr lang="en" sz="4800">
                <a:solidFill>
                  <a:srgbClr val="188038"/>
                </a:solidFill>
              </a:rPr>
              <a:t> c</a:t>
            </a:r>
            <a:r>
              <a:rPr lang="en" sz="4800">
                <a:solidFill>
                  <a:srgbClr val="4A5565"/>
                </a:solidFill>
                <a:highlight>
                  <a:srgbClr val="FFFFFF"/>
                </a:highlight>
              </a:rPr>
              <a:t>odified JSON schema format apart from the messages column.</a:t>
            </a:r>
            <a:endParaRPr sz="4800">
              <a:solidFill>
                <a:srgbClr val="4A5565"/>
              </a:solidFill>
              <a:highlight>
                <a:srgbClr val="F9FAFB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messages = [</a:t>
            </a:r>
            <a:endParaRPr sz="330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r>
              <a:rPr lang="en" sz="33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"role"</a:t>
            </a: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33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"user"</a:t>
            </a: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33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"content"</a:t>
            </a: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33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"Turn on the living room lights."</a:t>
            </a: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},</a:t>
            </a:r>
            <a:endParaRPr sz="330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r>
              <a:rPr lang="en" sz="33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"role"</a:t>
            </a: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33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"assistant"</a:t>
            </a: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33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"tool_calls"</a:t>
            </a: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[</a:t>
            </a:r>
            <a:endParaRPr sz="330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    {</a:t>
            </a:r>
            <a:r>
              <a:rPr lang="en" sz="33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"type"</a:t>
            </a: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33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"function"</a:t>
            </a: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33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"function"</a:t>
            </a: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{</a:t>
            </a:r>
            <a:endParaRPr sz="330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33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"name"</a:t>
            </a: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33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"control_light"</a:t>
            </a: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330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33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"arguments"</a:t>
            </a: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{</a:t>
            </a:r>
            <a:r>
              <a:rPr lang="en" sz="33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"room"</a:t>
            </a: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33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"living room"</a:t>
            </a: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33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"state"</a:t>
            </a: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33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"on"</a:t>
            </a: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330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    }}]</a:t>
            </a:r>
            <a:endParaRPr sz="330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},</a:t>
            </a:r>
            <a:endParaRPr sz="330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r>
              <a:rPr lang="en" sz="33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"role"</a:t>
            </a: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33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"tool"</a:t>
            </a: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33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"name"</a:t>
            </a: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33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"control_light"</a:t>
            </a: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33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"content"</a:t>
            </a: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33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"The lights in the living room are now on."</a:t>
            </a: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},</a:t>
            </a:r>
            <a:endParaRPr sz="330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r>
              <a:rPr lang="en" sz="33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"role"</a:t>
            </a: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33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"assistant"</a:t>
            </a: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33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"content"</a:t>
            </a: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33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"Done!"</a:t>
            </a: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330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71429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en" sz="33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" sz="105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gh</a:t>
            </a:r>
            <a:endParaRPr sz="105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A556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71429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71429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t/>
            </a:r>
            <a:endParaRPr sz="330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9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 JSON schema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A626A4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en" sz="8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transformers.utils </a:t>
            </a:r>
            <a:r>
              <a:rPr lang="en" sz="800">
                <a:solidFill>
                  <a:srgbClr val="A626A4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" sz="8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get_json_schema</a:t>
            </a:r>
            <a:endParaRPr sz="80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A626A4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" sz="8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4078F2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control_light</a:t>
            </a:r>
            <a:r>
              <a:rPr lang="en" sz="8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(room: </a:t>
            </a:r>
            <a:r>
              <a:rPr lang="en" sz="800">
                <a:solidFill>
                  <a:srgbClr val="C18401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lang="en" sz="8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, state: </a:t>
            </a:r>
            <a:r>
              <a:rPr lang="en" sz="800">
                <a:solidFill>
                  <a:srgbClr val="C18401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lang="en" sz="8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) -&gt; </a:t>
            </a:r>
            <a:r>
              <a:rPr lang="en" sz="800">
                <a:solidFill>
                  <a:srgbClr val="C18401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lang="en" sz="8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80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8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800">
              <a:solidFill>
                <a:srgbClr val="50A14F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Controls the lights in a room.</a:t>
            </a:r>
            <a:endParaRPr sz="800">
              <a:solidFill>
                <a:srgbClr val="50A14F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Args:</a:t>
            </a:r>
            <a:endParaRPr sz="800">
              <a:solidFill>
                <a:srgbClr val="50A14F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    room: The name of the room.</a:t>
            </a:r>
            <a:endParaRPr sz="800">
              <a:solidFill>
                <a:srgbClr val="50A14F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    state: The desired state of the light ("on" or "off").</a:t>
            </a:r>
            <a:endParaRPr sz="800">
              <a:solidFill>
                <a:srgbClr val="50A14F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Returns:</a:t>
            </a:r>
            <a:endParaRPr sz="800">
              <a:solidFill>
                <a:srgbClr val="50A14F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    str: A message indicating the new state of the lights.</a:t>
            </a:r>
            <a:endParaRPr sz="800">
              <a:solidFill>
                <a:srgbClr val="50A14F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 sz="80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8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800">
                <a:solidFill>
                  <a:srgbClr val="A626A4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8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8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f"The lights in </a:t>
            </a:r>
            <a:r>
              <a:rPr lang="en" sz="800">
                <a:solidFill>
                  <a:srgbClr val="E45649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{room}</a:t>
            </a:r>
            <a:r>
              <a:rPr lang="en" sz="8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are now </a:t>
            </a:r>
            <a:r>
              <a:rPr lang="en" sz="800">
                <a:solidFill>
                  <a:srgbClr val="E45649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{state}</a:t>
            </a:r>
            <a:r>
              <a:rPr lang="en" sz="800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."</a:t>
            </a:r>
            <a:endParaRPr sz="80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i="1" lang="en" sz="800">
                <a:solidFill>
                  <a:srgbClr val="A0A1A7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# Generate JSON schema</a:t>
            </a:r>
            <a:endParaRPr sz="80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800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json_schema = get_json_schema(control_light)</a:t>
            </a:r>
            <a:endParaRPr sz="800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350"/>
          </a:p>
        </p:txBody>
      </p:sp>
      <p:sp>
        <p:nvSpPr>
          <p:cNvPr id="98" name="Google Shape;98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837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837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"type"</a:t>
            </a: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837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"function"</a:t>
            </a: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837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837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"function"</a:t>
            </a: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{</a:t>
            </a:r>
            <a:endParaRPr sz="837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37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"name"</a:t>
            </a: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837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"control_light"</a:t>
            </a: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837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37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"description"</a:t>
            </a: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837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"Controls the lights in a room."</a:t>
            </a: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837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37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"parameters"</a:t>
            </a: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{</a:t>
            </a:r>
            <a:endParaRPr sz="837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837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"type"</a:t>
            </a: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837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"object"</a:t>
            </a: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837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837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"properties"</a:t>
            </a: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{</a:t>
            </a:r>
            <a:endParaRPr sz="837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" sz="837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"room"</a:t>
            </a: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{</a:t>
            </a:r>
            <a:r>
              <a:rPr lang="en" sz="837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"type"</a:t>
            </a: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837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"string"</a:t>
            </a: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37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"description"</a:t>
            </a: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837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"room name."</a:t>
            </a: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},</a:t>
            </a:r>
            <a:endParaRPr sz="837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" sz="837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"state"</a:t>
            </a: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{</a:t>
            </a:r>
            <a:r>
              <a:rPr lang="en" sz="837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"type"</a:t>
            </a: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837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"string"</a:t>
            </a: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37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"description"</a:t>
            </a: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837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'state of the light ("on" or "off").'</a:t>
            </a: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},</a:t>
            </a:r>
            <a:endParaRPr sz="837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        },</a:t>
            </a:r>
            <a:endParaRPr sz="837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837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"required"</a:t>
            </a: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lang="en" sz="837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"room"</a:t>
            </a: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37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"state"</a:t>
            </a: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837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    },</a:t>
            </a:r>
            <a:endParaRPr sz="837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837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"return"</a:t>
            </a: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{</a:t>
            </a:r>
            <a:r>
              <a:rPr lang="en" sz="837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"type"</a:t>
            </a: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837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"string"</a:t>
            </a: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837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"description"</a:t>
            </a: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837">
                <a:solidFill>
                  <a:srgbClr val="50A14F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"str: A message indicating the new state of the lights."</a:t>
            </a:r>
            <a:r>
              <a:rPr lang="en" sz="8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},</a:t>
            </a:r>
            <a:endParaRPr sz="837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7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    },</a:t>
            </a:r>
            <a:endParaRPr sz="737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1429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737">
                <a:solidFill>
                  <a:srgbClr val="4A556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737">
              <a:solidFill>
                <a:srgbClr val="4A556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19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3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training dataset ( 50 train, 15 validation)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"prompt": "Solve using BODMAS: (8 - 3) + 4 * 2",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"completion": "Step 1: Brackets → (8 - 3) = 5\nStep 2: Multiply → 4 * 2 = 8\nStep 3: Addition → 5 + 8 = 13\nFinal Answer: 13"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},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"prompt": "Solve using BODMAS: 20 / (2 + 3)",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"completion": "Step 1: Brackets → (2 + 3) = 5\nStep 2: Division → 20 / 5 = 4\nFinal Answer: 4"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},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{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"prompt": "Solve using BODMAS: (6 + 2) * (5 - 3)",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"completion": "Step 1: Brackets → (6 + 2) = 8, (5 - 3) = 2\nStep 2: Multiply → 8 * 2 = 16\nFinal Answer: 16"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Loading a Dataset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64">
                <a:solidFill>
                  <a:srgbClr val="9723B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" sz="1464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json</a:t>
            </a:r>
            <a:endParaRPr sz="1464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64">
                <a:solidFill>
                  <a:srgbClr val="9723B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en" sz="1464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google.colab </a:t>
            </a:r>
            <a:r>
              <a:rPr lang="en" sz="1464">
                <a:solidFill>
                  <a:srgbClr val="9723B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" sz="1464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files</a:t>
            </a:r>
            <a:endParaRPr sz="1464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64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uploaded = files.upload()</a:t>
            </a:r>
            <a:endParaRPr sz="1464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5098"/>
              <a:buFont typeface="Arial"/>
              <a:buNone/>
            </a:pPr>
            <a:r>
              <a:rPr lang="en" sz="1464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bodmas_dataset = load_dataset( </a:t>
            </a:r>
            <a:r>
              <a:rPr lang="en" sz="1464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"json"</a:t>
            </a:r>
            <a:r>
              <a:rPr lang="en" sz="1464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data_files={ </a:t>
            </a:r>
            <a:r>
              <a:rPr lang="en" sz="1464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"train"</a:t>
            </a:r>
            <a:r>
              <a:rPr lang="en" sz="1464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1464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"bodmas.json"</a:t>
            </a:r>
            <a:r>
              <a:rPr lang="en" sz="1464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464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"validation"</a:t>
            </a:r>
            <a:r>
              <a:rPr lang="en" sz="1464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" sz="1464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"bodmas_val.json"</a:t>
            </a:r>
            <a:r>
              <a:rPr lang="en" sz="1464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} )</a:t>
            </a:r>
            <a:endParaRPr sz="1464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348"/>
              <a:buFont typeface="Arial"/>
              <a:buNone/>
            </a:pPr>
            <a:r>
              <a:rPr lang="en" sz="1764">
                <a:solidFill>
                  <a:schemeClr val="dk1"/>
                </a:solidFill>
                <a:highlight>
                  <a:srgbClr val="FFFFFF"/>
                </a:highlight>
              </a:rPr>
              <a:t>Result:</a:t>
            </a:r>
            <a:endParaRPr sz="1764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 sz="1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 sz="1400">
                <a:solidFill>
                  <a:srgbClr val="1F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DatasetDict({</a:t>
            </a:r>
            <a:endParaRPr sz="1400"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 sz="1400">
                <a:solidFill>
                  <a:srgbClr val="1F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train: Dataset({</a:t>
            </a:r>
            <a:endParaRPr sz="1400"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 sz="1400">
                <a:solidFill>
                  <a:srgbClr val="1F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features: ['prompt', 'completion'],</a:t>
            </a:r>
            <a:endParaRPr sz="1400"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 sz="1400">
                <a:solidFill>
                  <a:srgbClr val="1F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num_rows: 50</a:t>
            </a:r>
            <a:endParaRPr sz="1400"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 sz="1400">
                <a:solidFill>
                  <a:srgbClr val="1F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})</a:t>
            </a:r>
            <a:endParaRPr sz="1400"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 sz="1400">
                <a:solidFill>
                  <a:srgbClr val="1F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validation: Dataset({</a:t>
            </a:r>
            <a:endParaRPr sz="1400"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 sz="1400">
                <a:solidFill>
                  <a:srgbClr val="1F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features: ['prompt', 'completion'],</a:t>
            </a:r>
            <a:endParaRPr sz="1400"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 sz="1400">
                <a:solidFill>
                  <a:srgbClr val="1F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num_rows: 15</a:t>
            </a:r>
            <a:endParaRPr sz="1400"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 sz="1400">
                <a:solidFill>
                  <a:srgbClr val="1F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})</a:t>
            </a:r>
            <a:endParaRPr sz="1400"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 sz="1400">
                <a:solidFill>
                  <a:srgbClr val="1F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LLMs is memory intensive without LORA</a:t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152475"/>
            <a:ext cx="8075700" cy="16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Training involves :</a:t>
            </a:r>
            <a:endParaRPr sz="1250">
              <a:solidFill>
                <a:srgbClr val="4A556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A forward pass to generate an output.</a:t>
            </a:r>
            <a:endParaRPr sz="1250">
              <a:solidFill>
                <a:srgbClr val="4A556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A backward pass where gradients are computed for each weight.  </a:t>
            </a:r>
            <a:endParaRPr sz="1250">
              <a:solidFill>
                <a:srgbClr val="4A556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An optimizer  that uses the gradients to update the weights. Optimizers have 2 parameters.   </a:t>
            </a:r>
            <a:endParaRPr/>
          </a:p>
        </p:txBody>
      </p:sp>
      <p:graphicFrame>
        <p:nvGraphicFramePr>
          <p:cNvPr id="117" name="Google Shape;117;p23"/>
          <p:cNvGraphicFramePr/>
          <p:nvPr/>
        </p:nvGraphicFramePr>
        <p:xfrm>
          <a:off x="446613" y="2918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{0A80EA1C-7369-48E1-AB8F-27B630304526}</a:tableStyleId>
              </a:tblPr>
              <a:tblGrid>
                <a:gridCol w="1718275"/>
                <a:gridCol w="2707900"/>
                <a:gridCol w="3379700"/>
              </a:tblGrid>
              <a:tr h="40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RAM without QLORA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RAM with QLORA r=16, 8 bit model wt.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Training Q/K/V/O - 15 M params, FP16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Weights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14GB ( 7B x 2 bytes)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7B(1 byte x 7 B)+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2 bytes x .015 GB=7.03 GB+quant. overhead=8.03GB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Gradients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14GB (7B x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2 bytes</a:t>
                      </a:r>
                      <a:r>
                        <a:rPr lang="en"/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FP16 x .015 GB = .03GB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Optimizer state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56GB (7B x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4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bytes</a:t>
                      </a:r>
                      <a:r>
                        <a:rPr lang="en"/>
                        <a:t> x 2 params)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15M x 4 bytes x 2 =.12 GB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LORA:  Basic idea</a:t>
            </a:r>
            <a:endParaRPr/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36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Suppose we have an LLM with 7B parameters represented in a weight matrix </a:t>
            </a:r>
            <a:r>
              <a:rPr i="1" lang="en" sz="1450">
                <a:solidFill>
                  <a:srgbClr val="36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 sz="1450">
                <a:solidFill>
                  <a:srgbClr val="36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(mxn dimensional). </a:t>
            </a:r>
            <a:endParaRPr sz="1450">
              <a:solidFill>
                <a:srgbClr val="36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>
                <a:solidFill>
                  <a:srgbClr val="36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During backpropagation, we learn a </a:t>
            </a:r>
            <a:r>
              <a:rPr i="1" lang="en" sz="1450">
                <a:solidFill>
                  <a:srgbClr val="36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ΔW</a:t>
            </a:r>
            <a:r>
              <a:rPr lang="en" sz="1450">
                <a:solidFill>
                  <a:srgbClr val="36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matrix, which contains information on how much we want to update the original weights to minimize the loss function during training.</a:t>
            </a:r>
            <a:endParaRPr sz="1450">
              <a:solidFill>
                <a:srgbClr val="36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>
                <a:solidFill>
                  <a:srgbClr val="36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weight update is then as follows:</a:t>
            </a:r>
            <a:endParaRPr sz="1450">
              <a:solidFill>
                <a:srgbClr val="36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450">
                <a:solidFill>
                  <a:srgbClr val="36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baseline="-25000" lang="en">
                <a:solidFill>
                  <a:srgbClr val="36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updated</a:t>
            </a:r>
            <a:r>
              <a:rPr lang="en" sz="1450">
                <a:solidFill>
                  <a:srgbClr val="36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i="1" lang="en" sz="1450">
                <a:solidFill>
                  <a:srgbClr val="36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 sz="1450">
                <a:solidFill>
                  <a:srgbClr val="36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+ </a:t>
            </a:r>
            <a:r>
              <a:rPr i="1" lang="en" sz="1450">
                <a:solidFill>
                  <a:srgbClr val="36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ΔW</a:t>
            </a:r>
            <a:endParaRPr i="1" sz="1450">
              <a:solidFill>
                <a:srgbClr val="36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36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LORA Approach:  Decompose the weight changes, </a:t>
            </a:r>
            <a:r>
              <a:rPr b="1" i="1" lang="en" sz="1450">
                <a:solidFill>
                  <a:srgbClr val="36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ΔW</a:t>
            </a:r>
            <a:r>
              <a:rPr b="1" lang="en" sz="1450">
                <a:solidFill>
                  <a:srgbClr val="36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into a product of two smaller </a:t>
            </a:r>
            <a:r>
              <a:rPr b="1" lang="en" sz="1450">
                <a:solidFill>
                  <a:srgbClr val="36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matrices</a:t>
            </a:r>
            <a:r>
              <a:rPr b="1" lang="en" sz="1450">
                <a:solidFill>
                  <a:srgbClr val="36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b="1" sz="1450">
              <a:solidFill>
                <a:srgbClr val="36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60000"/>
              </a:lnSpc>
              <a:spcBef>
                <a:spcPts val="12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>
                <a:solidFill>
                  <a:srgbClr val="36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ΔW=AxB , where A =m x r matrix, B=r x n matrix.  , and AB will be a higher dimensional mxn matrix</a:t>
            </a:r>
            <a:endParaRPr b="1" sz="1450">
              <a:solidFill>
                <a:srgbClr val="36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How Lora works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1" cy="3715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QLORA: add quantization</a:t>
            </a:r>
            <a:endParaRPr/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1244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7975" lvl="0" marL="457200" rtl="0" algn="l">
              <a:spcBef>
                <a:spcPts val="600"/>
              </a:spcBef>
              <a:spcAft>
                <a:spcPts val="0"/>
              </a:spcAft>
              <a:buClr>
                <a:srgbClr val="4A5565"/>
              </a:buClr>
              <a:buSzPts val="1250"/>
              <a:buAutoNum type="arabicPeriod"/>
            </a:pP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4-bit Quantization: The base model is loaded in 4-bit precision using </a:t>
            </a:r>
            <a:r>
              <a:rPr lang="en" sz="1050">
                <a:solidFill>
                  <a:srgbClr val="18803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bitsandbytes</a:t>
            </a:r>
            <a:endParaRPr sz="1050">
              <a:solidFill>
                <a:srgbClr val="18803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4A5565"/>
              </a:buClr>
              <a:buSzPts val="1250"/>
              <a:buAutoNum type="arabicPeriod"/>
            </a:pP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Frozen Weights: The quantized model weights remain frozen during training</a:t>
            </a:r>
            <a:endParaRPr sz="1250">
              <a:solidFill>
                <a:srgbClr val="4A5565"/>
              </a:solidFill>
              <a:highlight>
                <a:srgbClr val="FFFFFF"/>
              </a:highlight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4A5565"/>
              </a:buClr>
              <a:buSzPts val="1250"/>
              <a:buAutoNum type="arabicPeriod"/>
            </a:pP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LoRA Adapters: Only the LoRA adapter parameters are trained in higher precision</a:t>
            </a:r>
            <a:endParaRPr sz="1250">
              <a:solidFill>
                <a:srgbClr val="4A5565"/>
              </a:solidFill>
              <a:highlight>
                <a:srgbClr val="FFFFFF"/>
              </a:highlight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4A5565"/>
              </a:buClr>
              <a:buSzPts val="1250"/>
              <a:buAutoNum type="arabicPeriod"/>
            </a:pPr>
            <a:r>
              <a:rPr lang="en" sz="1250">
                <a:solidFill>
                  <a:srgbClr val="4A5565"/>
                </a:solidFill>
                <a:highlight>
                  <a:srgbClr val="FFFFFF"/>
                </a:highlight>
              </a:rPr>
              <a:t>Memory Efficiency: Enables fine-tuning of models like Llama-70B on a single consumer GPU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QLORA Parameters </a:t>
            </a:r>
            <a:endParaRPr/>
          </a:p>
        </p:txBody>
      </p:sp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LoRA Rank -4   : </a:t>
            </a:r>
            <a:r>
              <a:rPr lang="en" sz="1400">
                <a:solidFill>
                  <a:srgbClr val="000000"/>
                </a:solidFill>
              </a:rPr>
              <a:t>Dimension of the low‑rank adapters (e.g., 8, 16, 32)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Controls adapter capacity; higher rank = more expressive but heavier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LoRA Alpha (α)  : </a:t>
            </a:r>
            <a:r>
              <a:rPr lang="en" sz="1400">
                <a:solidFill>
                  <a:srgbClr val="000000"/>
                </a:solidFill>
              </a:rPr>
              <a:t>Scaling factor applied to LoRA updates.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Balances adapter contribution vs. base model; stabilizes training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Dropout 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Regularizes training, prevents overfitting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Target Modules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Which layers get adapters (e.g., attention projections, feed‑forward layers)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Defines where fine‑tuning happens; common choice is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the attention layers 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"q_proj"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"v_proj"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"k_proj"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"o_proj"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Others: Gradient accumulation on/off, learning rates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