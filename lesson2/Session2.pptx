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Nunito"/>
      <p:regular r:id="rId24"/>
      <p:bold r:id="rId25"/>
      <p:italic r:id="rId26"/>
      <p:boldItalic r:id="rId27"/>
    </p:embeddedFon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2" roundtripDataSignature="AMtx7mh2ArKc76CoZtAS7XUlwfxycnTC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A213815-3BE1-48ED-A11E-26C90326E0D2}">
  <a:tblStyle styleId="{7A213815-3BE1-48ED-A11E-26C90326E0D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Nunito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8" Type="http://schemas.openxmlformats.org/officeDocument/2006/relationships/font" Target="fonts/RobotoMono-regular.fntdata"/><Relationship Id="rId27" Type="http://schemas.openxmlformats.org/officeDocument/2006/relationships/font" Target="fonts/Nuni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c573f635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bc573f635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c573f635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bc573f635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ca862da2a_0_4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g3bca862da2a_0_4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g3bca862da2a_0_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ca862da2a_0_5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g3bca862da2a_0_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bca862da2a_0_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g3bca862da2a_0_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g3bca862da2a_0_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bca862da2a_0_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bca862da2a_0_6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g3bca862da2a_0_6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g3bca862da2a_0_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bca862da2a_0_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g3bca862da2a_0_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bca862da2a_0_6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g3bca862da2a_0_6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3bca862da2a_0_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bca862da2a_0_7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g3bca862da2a_0_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bca862da2a_0_7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bca862da2a_0_7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g3bca862da2a_0_7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g3bca862da2a_0_7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g3bca862da2a_0_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ca862da2a_0_8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g3bca862da2a_0_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bca862da2a_0_8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g3bca862da2a_0_8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g3bca862da2a_0_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bca862da2a_0_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bca862da2a_0_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g3bca862da2a_0_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g3bca862da2a_0_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ggml-org/llama.cpp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Session 2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64285"/>
              <a:buNone/>
            </a:pPr>
            <a:r>
              <a:rPr lang="en"/>
              <a:t>LLM Inference with Ollama, OpenAI &amp; Langchain basics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Pending slides: The Transformer architecture</a:t>
            </a:r>
            <a:endParaRPr/>
          </a:p>
        </p:txBody>
      </p:sp>
      <p:pic>
        <p:nvPicPr>
          <p:cNvPr id="61" name="Google Shape;6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3400" y="1086150"/>
            <a:ext cx="595719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c573f6356_0_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Pending slides: The Transformer architecture</a:t>
            </a:r>
            <a:endParaRPr/>
          </a:p>
        </p:txBody>
      </p:sp>
      <p:pic>
        <p:nvPicPr>
          <p:cNvPr id="67" name="Google Shape;67;g3bc573f6356_0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613" y="1017725"/>
            <a:ext cx="5868784" cy="3820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Pending slides: The Transformer architecture</a:t>
            </a:r>
            <a:endParaRPr/>
          </a:p>
        </p:txBody>
      </p:sp>
      <p:pic>
        <p:nvPicPr>
          <p:cNvPr id="73" name="Google Shape;7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900" y="1142125"/>
            <a:ext cx="6094212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5300">
                <a:solidFill>
                  <a:schemeClr val="dk2"/>
                </a:solidFill>
              </a:rPr>
              <a:t>LLM Inference with Ollama, OpenAI &amp; Langchain basics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 sz="2800"/>
              <a:t>Options for Local Inference</a:t>
            </a:r>
            <a:endParaRPr sz="2800"/>
          </a:p>
        </p:txBody>
      </p:sp>
      <p:sp>
        <p:nvSpPr>
          <p:cNvPr id="84" name="Google Shape;84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Ollama: mainly for individual prototyping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vLLM: Better concurrency and performance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LocalAI: Supports audio, vision models as well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 sz="2800"/>
              <a:t>Various Model Formats</a:t>
            </a:r>
            <a:endParaRPr sz="2800"/>
          </a:p>
        </p:txBody>
      </p:sp>
      <p:sp>
        <p:nvSpPr>
          <p:cNvPr id="90" name="Google Shape;90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GGUF: Initially developed for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llama.cpp</a:t>
            </a:r>
            <a:r>
              <a:rPr lang="en">
                <a:solidFill>
                  <a:schemeClr val="dk1"/>
                </a:solidFill>
              </a:rPr>
              <a:t> project.  GGUF is primarily used for language models. Offers flexible quantization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Pytorch : .pt/.pth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Safetensors: HuggingFace format that overcomes security limitations with python serialization.JSON parser required to read metadata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ONNX: Open Neural Network Exchange (ONNX) , vendor neutral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 sz="2800"/>
              <a:t>Tokens</a:t>
            </a:r>
            <a:endParaRPr sz="2800"/>
          </a:p>
        </p:txBody>
      </p:sp>
      <p:sp>
        <p:nvSpPr>
          <p:cNvPr id="96" name="Google Shape;96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D0D0D"/>
                </a:solidFill>
              </a:rPr>
              <a:t>Tokens are the building blocks of text that models process. They can be as short as a single character or as long as a full word, depending on the language and context. Spaces, punctuation, and partial words all contribute to token counts. This is how the API internally segments your text before generating a response.</a:t>
            </a:r>
            <a:endParaRPr sz="1200">
              <a:solidFill>
                <a:srgbClr val="0D0D0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D0D0D"/>
                </a:solidFill>
              </a:rPr>
              <a:t>Helpful rules of thumb for English:</a:t>
            </a:r>
            <a:endParaRPr sz="1200">
              <a:solidFill>
                <a:srgbClr val="0D0D0D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ts val="1200"/>
              <a:buChar char="●"/>
            </a:pPr>
            <a:r>
              <a:rPr lang="en" sz="1200">
                <a:solidFill>
                  <a:srgbClr val="0D0D0D"/>
                </a:solidFill>
              </a:rPr>
              <a:t>1 token ≈ 4 characters</a:t>
            </a:r>
            <a:endParaRPr sz="1200">
              <a:solidFill>
                <a:srgbClr val="0D0D0D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Char char="●"/>
            </a:pPr>
            <a:r>
              <a:rPr lang="en" sz="1200">
                <a:solidFill>
                  <a:srgbClr val="0D0D0D"/>
                </a:solidFill>
              </a:rPr>
              <a:t>1 token ≈ ¾ of a word</a:t>
            </a:r>
            <a:endParaRPr sz="1200">
              <a:solidFill>
                <a:srgbClr val="0D0D0D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Char char="●"/>
            </a:pPr>
            <a:r>
              <a:rPr lang="en" sz="1200">
                <a:solidFill>
                  <a:srgbClr val="0D0D0D"/>
                </a:solidFill>
              </a:rPr>
              <a:t>100 tokens ≈ 75 words</a:t>
            </a:r>
            <a:endParaRPr sz="1200">
              <a:solidFill>
                <a:srgbClr val="0D0D0D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Char char="●"/>
            </a:pPr>
            <a:r>
              <a:rPr lang="en" sz="1200">
                <a:solidFill>
                  <a:srgbClr val="0D0D0D"/>
                </a:solidFill>
              </a:rPr>
              <a:t>1–2 sentences ≈ 30 tokens</a:t>
            </a:r>
            <a:endParaRPr sz="1200">
              <a:solidFill>
                <a:srgbClr val="0D0D0D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Char char="●"/>
            </a:pPr>
            <a:r>
              <a:rPr lang="en" sz="1200">
                <a:solidFill>
                  <a:srgbClr val="0D0D0D"/>
                </a:solidFill>
              </a:rPr>
              <a:t>1 paragraph ≈ 100 tokens</a:t>
            </a:r>
            <a:endParaRPr sz="1200">
              <a:solidFill>
                <a:srgbClr val="0D0D0D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Char char="●"/>
            </a:pPr>
            <a:r>
              <a:rPr lang="en" sz="1200">
                <a:solidFill>
                  <a:srgbClr val="0D0D0D"/>
                </a:solidFill>
              </a:rPr>
              <a:t>~1,500 words ≈ 2,048 tokens</a:t>
            </a:r>
            <a:endParaRPr sz="1200">
              <a:solidFill>
                <a:srgbClr val="0D0D0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 sz="2800"/>
              <a:t>The need for LLM orchestration Frameworks</a:t>
            </a:r>
            <a:endParaRPr sz="2800"/>
          </a:p>
        </p:txBody>
      </p:sp>
      <p:sp>
        <p:nvSpPr>
          <p:cNvPr id="102" name="Google Shape;102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rgbClr val="242424"/>
                </a:solidFill>
                <a:highlight>
                  <a:srgbClr val="FFFFFF"/>
                </a:highlight>
              </a:rPr>
              <a:t>An LLM doesn't remember/have access to previous responses it has provided. A common fix for this is to include the conversation so far as part of the prompt sent to the LLM.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Prompts chains can be nested or combined.This lets you build modular systems rather than monolithic scripts (example: a summarization chain feeding into a question‑answering chain)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You don’t have to manually stitch together prompts with past messages.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Consistency across providers. You can swap out the underlying LLM without rewriting the workflow.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 sz="2800"/>
              <a:t>Simple Chain</a:t>
            </a:r>
            <a:endParaRPr sz="2800"/>
          </a:p>
        </p:txBody>
      </p:sp>
      <p:pic>
        <p:nvPicPr>
          <p:cNvPr id="108" name="Google Shape;10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2900" y="1618025"/>
            <a:ext cx="6898200" cy="344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9"/>
          <p:cNvSpPr txBox="1"/>
          <p:nvPr/>
        </p:nvSpPr>
        <p:spPr>
          <a:xfrm>
            <a:off x="280800" y="1017725"/>
            <a:ext cx="8244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" sz="135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Each chain in the sequence accepts one input and returns one output. The output of each chain is automatically fed as input to the next chain in the sequence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 sz="2800"/>
              <a:t>Sequential Chains</a:t>
            </a:r>
            <a:endParaRPr sz="2800"/>
          </a:p>
        </p:txBody>
      </p:sp>
      <p:pic>
        <p:nvPicPr>
          <p:cNvPr id="115" name="Google Shape;11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800" y="1512725"/>
            <a:ext cx="7064400" cy="353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0"/>
          <p:cNvSpPr txBox="1"/>
          <p:nvPr/>
        </p:nvSpPr>
        <p:spPr>
          <a:xfrm>
            <a:off x="311700" y="1017725"/>
            <a:ext cx="76464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" sz="135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complex workflows where chains might depend on several pieces of information.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 sz="2800"/>
              <a:t>LangChain framework Core Components</a:t>
            </a:r>
            <a:endParaRPr sz="2800"/>
          </a:p>
        </p:txBody>
      </p:sp>
      <p:sp>
        <p:nvSpPr>
          <p:cNvPr id="122" name="Google Shape;122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Models</a:t>
            </a:r>
            <a:r>
              <a:rPr lang="en"/>
              <a:t>: Abstract how to call different model providers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Prompt Templates: </a:t>
            </a:r>
            <a:r>
              <a:rPr lang="en">
                <a:highlight>
                  <a:srgbClr val="FFFFFF"/>
                </a:highlight>
              </a:rPr>
              <a:t>Define how user inputs are formatted and structured to guide LLMs effectively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Memory : </a:t>
            </a:r>
            <a:r>
              <a:rPr lang="en"/>
              <a:t>Store the list of messages sent and received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Chains: </a:t>
            </a:r>
            <a:r>
              <a:rPr lang="en"/>
              <a:t>Sequence of calls to an LLM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Vector Databases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Agents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 sz="2800"/>
              <a:t>ChatOpenAI</a:t>
            </a:r>
            <a:endParaRPr sz="2800"/>
          </a:p>
        </p:txBody>
      </p:sp>
      <p:sp>
        <p:nvSpPr>
          <p:cNvPr id="128" name="Google Shape;128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ChatOpenAI is the primary class used for chatting with OpenAI models.  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LangChain’s interface for interacting with OpenAI’s API.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A subclass of </a:t>
            </a:r>
            <a:r>
              <a:rPr i="1" lang="en" sz="15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BaseChatModel, </a:t>
            </a: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which is a generic class that implements subclasses for individual API services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 sz="2800"/>
              <a:t>Langchain Memory classes</a:t>
            </a:r>
            <a:endParaRPr sz="2800"/>
          </a:p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Automatic history management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ConversationBufferMemory</a:t>
            </a:r>
            <a:r>
              <a:rPr lang="en" sz="1100">
                <a:solidFill>
                  <a:schemeClr val="dk1"/>
                </a:solidFill>
              </a:rPr>
              <a:t>: keeps the full chat history.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ConversationBufferWindowMemory</a:t>
            </a:r>
            <a:r>
              <a:rPr lang="en" sz="1100">
                <a:solidFill>
                  <a:schemeClr val="dk1"/>
                </a:solidFill>
              </a:rPr>
              <a:t>: keeps only the last </a:t>
            </a:r>
            <a:r>
              <a:rPr i="1" lang="en" sz="1100">
                <a:solidFill>
                  <a:schemeClr val="dk1"/>
                </a:solidFill>
              </a:rPr>
              <a:t>N</a:t>
            </a:r>
            <a:r>
              <a:rPr lang="en" sz="1100">
                <a:solidFill>
                  <a:schemeClr val="dk1"/>
                </a:solidFill>
              </a:rPr>
              <a:t> turns (avoids token bloat).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ConversationSummaryMemory</a:t>
            </a:r>
            <a:r>
              <a:rPr lang="en" sz="1100">
                <a:solidFill>
                  <a:schemeClr val="dk1"/>
                </a:solidFill>
              </a:rPr>
              <a:t>: summarizes older turns into a compact form.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Plug-and-play with chains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Memory integrates seamlessly with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ConversationChain</a:t>
            </a:r>
            <a:r>
              <a:rPr lang="en" sz="1100">
                <a:solidFill>
                  <a:schemeClr val="dk1"/>
                </a:solidFill>
              </a:rPr>
              <a:t> or custom chains.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You don’t have to manually stitch messages into prompts — LangChain does it.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Consistency across models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Whether you use OpenAI, Anthropic, Hugging Face, or Ollama, the memory classes abstract away the differences in message formats.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 sz="2800"/>
              <a:t>Conversation Buffer Window Memory</a:t>
            </a:r>
            <a:endParaRPr sz="2800"/>
          </a:p>
        </p:txBody>
      </p:sp>
      <p:pic>
        <p:nvPicPr>
          <p:cNvPr id="140" name="Google Shape;14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0825" y="1135150"/>
            <a:ext cx="488235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Types of Memory</a:t>
            </a:r>
            <a:endParaRPr/>
          </a:p>
        </p:txBody>
      </p:sp>
      <p:graphicFrame>
        <p:nvGraphicFramePr>
          <p:cNvPr id="150" name="Google Shape;150;p15"/>
          <p:cNvGraphicFramePr/>
          <p:nvPr/>
        </p:nvGraphicFramePr>
        <p:xfrm>
          <a:off x="311700" y="12371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{7A213815-3BE1-48ED-A11E-26C90326E0D2}</a:tableStyleId>
              </a:tblPr>
              <a:tblGrid>
                <a:gridCol w="1040000"/>
                <a:gridCol w="1842775"/>
                <a:gridCol w="1906650"/>
                <a:gridCol w="1870150"/>
                <a:gridCol w="1861025"/>
              </a:tblGrid>
              <a:tr h="80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Memory Type</a:t>
                      </a:r>
                      <a:endParaRPr b="1" sz="1400" u="none" cap="none" strike="noStrike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0" marB="95250" marR="38100" marL="3810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Conversation Buffer Memory</a:t>
                      </a:r>
                      <a:endParaRPr b="1" sz="1400" u="none" cap="none" strike="noStrike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Conversation Buffer Window Memory</a:t>
                      </a:r>
                      <a:endParaRPr b="1" sz="1400" u="none" cap="none" strike="noStrike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Conversation Summary Memory</a:t>
                      </a:r>
                      <a:endParaRPr b="1" sz="1400" u="none" cap="none" strike="noStrike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Vector Store Retriever Memory</a:t>
                      </a:r>
                      <a:endParaRPr b="1" sz="1400" u="none" cap="none" strike="noStrike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105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en" sz="1350" u="none" cap="none" strike="noStrike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What it Stores</a:t>
                      </a:r>
                      <a:endParaRPr b="1" sz="1350" u="none" cap="none" strike="noStrike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3175" marB="93175" marR="38100" marL="3810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Entire conversation history as plain text</a:t>
                      </a:r>
                      <a:endParaRPr sz="1250" u="none" cap="none" strike="noStrike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Only the most recent k exchanges</a:t>
                      </a:r>
                      <a:endParaRPr sz="1250" u="none" cap="none" strike="noStrike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Condensed LLM generated summary of past</a:t>
                      </a:r>
                      <a:endParaRPr sz="1250" u="none" cap="none" strike="noStrike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Embeddings of past conversations in a vector DB</a:t>
                      </a:r>
                      <a:endParaRPr sz="1250" u="none" cap="none" strike="noStrike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en" sz="1350" u="none" cap="none" strike="noStrike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Strengths</a:t>
                      </a:r>
                      <a:endParaRPr b="1" sz="1350" u="none" cap="none" strike="noStrike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3175" marB="93175" marR="38100" marL="3810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Full context preserved, simple to use</a:t>
                      </a:r>
                      <a:endParaRPr sz="1250" u="none" cap="none" strike="noStrike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Keeps context relevant, avoids token overload</a:t>
                      </a:r>
                      <a:endParaRPr sz="1250" u="none" cap="none" strike="noStrike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Saves tokens, retains long term context</a:t>
                      </a:r>
                      <a:endParaRPr sz="1250" u="none" cap="none" strike="noStrike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Semantic recall across long histories</a:t>
                      </a:r>
                      <a:endParaRPr sz="1250" u="none" cap="none" strike="noStrike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en" sz="1350" u="none" cap="none" strike="noStrike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Limitations</a:t>
                      </a:r>
                      <a:endParaRPr b="1" sz="1350" u="none" cap="none" strike="noStrike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3175" marB="93175" marR="38100" marL="3810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Can grow too large and exceed token limits</a:t>
                      </a:r>
                      <a:endParaRPr sz="1250" u="none" cap="none" strike="noStrike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Loses older parts of the conversation</a:t>
                      </a:r>
                      <a:endParaRPr sz="1250" u="none" cap="none" strike="noStrike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Summaries may miss important details</a:t>
                      </a:r>
                      <a:endParaRPr sz="1250" u="none" cap="none" strike="noStrike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Needs external vector DB, higher setup</a:t>
                      </a:r>
                      <a:endParaRPr sz="1250" u="none" cap="none" strike="noStrike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