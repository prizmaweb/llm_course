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5143500" cx="9144000"/>
  <p:notesSz cx="6858000" cy="9144000"/>
  <p:embeddedFontLst>
    <p:embeddedFont>
      <p:font typeface="Nunito"/>
      <p:regular r:id="rId18"/>
      <p:bold r:id="rId19"/>
      <p:italic r:id="rId20"/>
      <p:boldItalic r:id="rId21"/>
    </p:embeddedFont>
    <p:embeddedFont>
      <p:font typeface="Roboto Mono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FC3DD99-B9FF-435D-8126-5A59F796BE9F}">
  <a:tblStyle styleId="{3FC3DD99-B9FF-435D-8126-5A59F796BE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unito-italic.fntdata"/><Relationship Id="rId22" Type="http://schemas.openxmlformats.org/officeDocument/2006/relationships/font" Target="fonts/RobotoMono-regular.fntdata"/><Relationship Id="rId21" Type="http://schemas.openxmlformats.org/officeDocument/2006/relationships/font" Target="fonts/Nunito-boldItalic.fntdata"/><Relationship Id="rId24" Type="http://schemas.openxmlformats.org/officeDocument/2006/relationships/font" Target="fonts/RobotoMono-italic.fntdata"/><Relationship Id="rId23" Type="http://schemas.openxmlformats.org/officeDocument/2006/relationships/font" Target="fonts/RobotoMono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schemas.openxmlformats.org/officeDocument/2006/relationships/font" Target="fonts/RobotoMono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Nunito-bold.fntdata"/><Relationship Id="rId18" Type="http://schemas.openxmlformats.org/officeDocument/2006/relationships/font" Target="fonts/Nunito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91bbe028e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b91bbe028e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b8ae9ccc9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b8ae9ccc9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8ae9ccc97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b8ae9ccc97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b8ae9ccc97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b8ae9ccc97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91bbe028e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b91bbe028e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b91bbe028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b91bbe02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b8ae9ccc97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b8ae9ccc97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85965834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b85965834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8ae9ccc9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b8ae9ccc9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8ae9ccc97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b8ae9ccc97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LangChain Basics 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LangChain framework Core Components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Models</a:t>
            </a:r>
            <a:r>
              <a:rPr lang="en"/>
              <a:t>: Abstract how to call different model providers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Prompt Templates: </a:t>
            </a:r>
            <a:r>
              <a:rPr lang="en">
                <a:highlight>
                  <a:srgbClr val="FFFFFF"/>
                </a:highlight>
              </a:rPr>
              <a:t>Define how user inputs are formatted and structured to guide LLMs effectively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Memory : </a:t>
            </a:r>
            <a:r>
              <a:rPr lang="en"/>
              <a:t>Store the list of messages sent and received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Chains: </a:t>
            </a:r>
            <a:r>
              <a:rPr lang="en"/>
              <a:t>Sequence </a:t>
            </a:r>
            <a:r>
              <a:rPr lang="en"/>
              <a:t>of calls to an LLM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Vector Databases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Agents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use Langchain ?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rgbClr val="242424"/>
                </a:solidFill>
                <a:highlight>
                  <a:srgbClr val="FFFFFF"/>
                </a:highlight>
              </a:rPr>
              <a:t>An LLM </a:t>
            </a:r>
            <a:r>
              <a:rPr lang="en">
                <a:solidFill>
                  <a:srgbClr val="242424"/>
                </a:solidFill>
                <a:highlight>
                  <a:srgbClr val="FFFFFF"/>
                </a:highlight>
              </a:rPr>
              <a:t>doesn't</a:t>
            </a:r>
            <a:r>
              <a:rPr lang="en">
                <a:solidFill>
                  <a:srgbClr val="242424"/>
                </a:solidFill>
                <a:highlight>
                  <a:srgbClr val="FFFFFF"/>
                </a:highlight>
              </a:rPr>
              <a:t> remember/have access to previous responses it has provided. A common fix for this is to include the conversation so far as part of the prompt sent to the LLM.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Prompts</a:t>
            </a:r>
            <a:r>
              <a:rPr lang="en"/>
              <a:t> chains can be nested or combined.This lets you build modular systems rather than monolithic scripts (example: a summarization chain feeding into a question‑answering chain)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You don’t have to manually stitch together prompts with past messages.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Consistency across providers. You can swap out the underlying LLM without rewriting the workflow.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Simple Chain</a:t>
            </a:r>
            <a:endParaRPr/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2900" y="1618025"/>
            <a:ext cx="6898200" cy="344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6"/>
          <p:cNvSpPr txBox="1"/>
          <p:nvPr/>
        </p:nvSpPr>
        <p:spPr>
          <a:xfrm>
            <a:off x="280800" y="1017725"/>
            <a:ext cx="82440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solidFill>
                  <a:srgbClr val="273239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  <a:sym typeface="Nunito"/>
              </a:rPr>
              <a:t>E</a:t>
            </a:r>
            <a:r>
              <a:rPr lang="en" sz="1350">
                <a:solidFill>
                  <a:srgbClr val="273239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  <a:sym typeface="Nunito"/>
              </a:rPr>
              <a:t>ach chain in the sequence accepts one input and returns one output. The output of each chain is automatically fed as input to the next chain in the sequence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Sequential Chain</a:t>
            </a:r>
            <a:endParaRPr/>
          </a:p>
        </p:txBody>
      </p:sp>
      <p:pic>
        <p:nvPicPr>
          <p:cNvPr id="80" name="Google Shape;8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9800" y="1512725"/>
            <a:ext cx="7064400" cy="35322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7"/>
          <p:cNvSpPr txBox="1"/>
          <p:nvPr/>
        </p:nvSpPr>
        <p:spPr>
          <a:xfrm>
            <a:off x="311700" y="1017725"/>
            <a:ext cx="76464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solidFill>
                  <a:srgbClr val="273239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  <a:sym typeface="Nunito"/>
              </a:rPr>
              <a:t>complex workflows where chains might depend on several pieces of information.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LLMChain</a:t>
            </a:r>
            <a:endParaRPr/>
          </a:p>
        </p:txBody>
      </p:sp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One of the core building blocks in </a:t>
            </a:r>
            <a:r>
              <a:rPr b="1" lang="en" sz="1500">
                <a:solidFill>
                  <a:schemeClr val="dk1"/>
                </a:solidFill>
              </a:rPr>
              <a:t>LangChain</a:t>
            </a:r>
            <a:r>
              <a:rPr lang="en" sz="1500">
                <a:solidFill>
                  <a:schemeClr val="dk1"/>
                </a:solidFill>
              </a:rPr>
              <a:t>. It provides a structured way to connect a </a:t>
            </a:r>
            <a:r>
              <a:rPr b="1" lang="en" sz="1500">
                <a:solidFill>
                  <a:schemeClr val="dk1"/>
                </a:solidFill>
              </a:rPr>
              <a:t>Large Language Model (LLM)</a:t>
            </a:r>
            <a:r>
              <a:rPr lang="en" sz="1500">
                <a:solidFill>
                  <a:schemeClr val="dk1"/>
                </a:solidFill>
              </a:rPr>
              <a:t> with a </a:t>
            </a:r>
            <a:r>
              <a:rPr b="1" lang="en" sz="1500">
                <a:solidFill>
                  <a:schemeClr val="dk1"/>
                </a:solidFill>
              </a:rPr>
              <a:t>prompt template</a:t>
            </a:r>
            <a:r>
              <a:rPr lang="en" sz="1500">
                <a:solidFill>
                  <a:schemeClr val="dk1"/>
                </a:solidFill>
              </a:rPr>
              <a:t> and manage the flow of inputs and outputs.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500">
                <a:solidFill>
                  <a:schemeClr val="dk1"/>
                </a:solidFill>
              </a:rPr>
              <a:t>Wraps an LLM</a:t>
            </a:r>
            <a:r>
              <a:rPr lang="en" sz="1500">
                <a:solidFill>
                  <a:schemeClr val="dk1"/>
                </a:solidFill>
              </a:rPr>
              <a:t>: It takes an LLM instance (like OpenAI, Hugging Face, etc.) and manages how it’s called.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500">
                <a:solidFill>
                  <a:schemeClr val="dk1"/>
                </a:solidFill>
              </a:rPr>
              <a:t>Uses a PromptTemplate</a:t>
            </a:r>
            <a:r>
              <a:rPr lang="en" sz="1500">
                <a:solidFill>
                  <a:schemeClr val="dk1"/>
                </a:solidFill>
              </a:rPr>
              <a:t>: You define a template with placeholders (e.g., </a:t>
            </a:r>
            <a:r>
              <a:rPr lang="en" sz="1500">
                <a:solidFill>
                  <a:srgbClr val="188038"/>
                </a:solidFill>
              </a:rPr>
              <a:t>"Question: {question}"</a:t>
            </a:r>
            <a:r>
              <a:rPr lang="en" sz="1500">
                <a:solidFill>
                  <a:schemeClr val="dk1"/>
                </a:solidFill>
              </a:rPr>
              <a:t>), and </a:t>
            </a:r>
            <a:r>
              <a:rPr lang="en" sz="1500">
                <a:solidFill>
                  <a:srgbClr val="188038"/>
                </a:solidFill>
              </a:rPr>
              <a:t>LLMChain</a:t>
            </a:r>
            <a:r>
              <a:rPr lang="en" sz="1500">
                <a:solidFill>
                  <a:schemeClr val="dk1"/>
                </a:solidFill>
              </a:rPr>
              <a:t> fills those in with user input.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500">
                <a:solidFill>
                  <a:schemeClr val="dk1"/>
                </a:solidFill>
              </a:rPr>
              <a:t>Handles execution</a:t>
            </a:r>
            <a:r>
              <a:rPr lang="en" sz="1500">
                <a:solidFill>
                  <a:schemeClr val="dk1"/>
                </a:solidFill>
              </a:rPr>
              <a:t>: When you call </a:t>
            </a:r>
            <a:r>
              <a:rPr lang="en" sz="1500">
                <a:solidFill>
                  <a:srgbClr val="188038"/>
                </a:solidFill>
              </a:rPr>
              <a:t>.run()</a:t>
            </a:r>
            <a:r>
              <a:rPr lang="en" sz="1500">
                <a:solidFill>
                  <a:schemeClr val="dk1"/>
                </a:solidFill>
              </a:rPr>
              <a:t> or </a:t>
            </a:r>
            <a:r>
              <a:rPr lang="en" sz="1500">
                <a:solidFill>
                  <a:srgbClr val="188038"/>
                </a:solidFill>
              </a:rPr>
              <a:t>.predict()</a:t>
            </a:r>
            <a:r>
              <a:rPr lang="en" sz="1500">
                <a:solidFill>
                  <a:schemeClr val="dk1"/>
                </a:solidFill>
              </a:rPr>
              <a:t>, it formats the prompt, sends it to the LLM, and returns the response.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Supports chaining</a:t>
            </a:r>
            <a:r>
              <a:rPr lang="en" sz="1500">
                <a:solidFill>
                  <a:schemeClr val="dk1"/>
                </a:solidFill>
              </a:rPr>
              <a:t>: You can combine multiple chains together (e.g., one chain generates SQL, another executes it, another formats the result).</a:t>
            </a:r>
            <a:endParaRPr sz="15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</p:txBody>
      </p:sp>
      <p:sp>
        <p:nvSpPr>
          <p:cNvPr id="93" name="Google Shape;93;p19"/>
          <p:cNvSpPr txBox="1"/>
          <p:nvPr/>
        </p:nvSpPr>
        <p:spPr>
          <a:xfrm>
            <a:off x="311700" y="1196625"/>
            <a:ext cx="85206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langchain import PromptTemplate, LLMChain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langchain.llms import OpenAI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llm = OpenAI(temperature=0)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prompt = PromptTemplate(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input_variables=["product", "audience"],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template="Suggest a catchy name for a {product} company targeting {audience}."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chain = LLMChain(llm=llm, prompt=prompt)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# Multiple arguments passed as keywords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 = chain.run(product="socks", audience="teenagers")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print(result)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ChatOpenAI</a:t>
            </a:r>
            <a:endParaRPr/>
          </a:p>
        </p:txBody>
      </p:sp>
      <p:sp>
        <p:nvSpPr>
          <p:cNvPr id="99" name="Google Shape;99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242424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ChatOpenAI is the primary class used for chatting with OpenAI models.  </a:t>
            </a:r>
            <a:endParaRPr sz="1500">
              <a:solidFill>
                <a:srgbClr val="242424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242424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LangChain’s interface for interacting with OpenAI’s API.</a:t>
            </a:r>
            <a:endParaRPr sz="1500">
              <a:solidFill>
                <a:srgbClr val="242424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rgbClr val="242424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A subclass of </a:t>
            </a:r>
            <a:r>
              <a:rPr i="1" lang="en" sz="1500">
                <a:solidFill>
                  <a:srgbClr val="242424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BaseChatModel, </a:t>
            </a:r>
            <a:r>
              <a:rPr lang="en" sz="1500">
                <a:solidFill>
                  <a:srgbClr val="242424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which is a generic class that implements subclasses for individual API services</a:t>
            </a:r>
            <a:endParaRPr sz="1500">
              <a:solidFill>
                <a:srgbClr val="242424"/>
              </a:solidFill>
              <a:highlight>
                <a:srgbClr val="FFFFFF"/>
              </a:highlight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Langchain Memory classes</a:t>
            </a:r>
            <a:endParaRPr/>
          </a:p>
        </p:txBody>
      </p:sp>
      <p:sp>
        <p:nvSpPr>
          <p:cNvPr id="105" name="Google Shape;105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Automatic history management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ConversationBufferMemory</a:t>
            </a:r>
            <a:r>
              <a:rPr lang="en" sz="1100">
                <a:solidFill>
                  <a:schemeClr val="dk1"/>
                </a:solidFill>
              </a:rPr>
              <a:t>: keeps the full chat history.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ConversationBufferWindowMemory</a:t>
            </a:r>
            <a:r>
              <a:rPr lang="en" sz="1100">
                <a:solidFill>
                  <a:schemeClr val="dk1"/>
                </a:solidFill>
              </a:rPr>
              <a:t>: keeps only the last </a:t>
            </a:r>
            <a:r>
              <a:rPr i="1" lang="en" sz="1100">
                <a:solidFill>
                  <a:schemeClr val="dk1"/>
                </a:solidFill>
              </a:rPr>
              <a:t>N</a:t>
            </a:r>
            <a:r>
              <a:rPr lang="en" sz="1100">
                <a:solidFill>
                  <a:schemeClr val="dk1"/>
                </a:solidFill>
              </a:rPr>
              <a:t> turns (avoids token bloat).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ConversationSummaryMemory</a:t>
            </a:r>
            <a:r>
              <a:rPr lang="en" sz="1100">
                <a:solidFill>
                  <a:schemeClr val="dk1"/>
                </a:solidFill>
              </a:rPr>
              <a:t>: summarizes older turns into a compact form.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Plug-and-play with chains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Memory integrates seamlessly with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ConversationChain</a:t>
            </a:r>
            <a:r>
              <a:rPr lang="en" sz="1100">
                <a:solidFill>
                  <a:schemeClr val="dk1"/>
                </a:solidFill>
              </a:rPr>
              <a:t> or custom chains.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You don’t have to manually stitch messages into prompts — LangChain does it.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Consistency across models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Whether you use OpenAI, Anthropic, Hugging Face, or Ollama, the memory classes abstract away the differences in message formats.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Conversation Buffer Window Memory</a:t>
            </a:r>
            <a:endParaRPr/>
          </a:p>
        </p:txBody>
      </p:sp>
      <p:pic>
        <p:nvPicPr>
          <p:cNvPr id="111" name="Google Shape;11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30825" y="1135150"/>
            <a:ext cx="4882358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Memory</a:t>
            </a:r>
            <a:endParaRPr/>
          </a:p>
        </p:txBody>
      </p:sp>
      <p:graphicFrame>
        <p:nvGraphicFramePr>
          <p:cNvPr id="117" name="Google Shape;117;p23"/>
          <p:cNvGraphicFramePr/>
          <p:nvPr/>
        </p:nvGraphicFramePr>
        <p:xfrm>
          <a:off x="311700" y="1237100"/>
          <a:ext cx="3000000" cy="3000000"/>
        </p:xfrm>
        <a:graphic>
          <a:graphicData uri="http://schemas.openxmlformats.org/drawingml/2006/table">
            <a:tbl>
              <a:tblPr>
                <a:solidFill>
                  <a:srgbClr val="FFFFFF"/>
                </a:solidFill>
                <a:tableStyleId>{3FC3DD99-B9FF-435D-8126-5A59F796BE9F}</a:tableStyleId>
              </a:tblPr>
              <a:tblGrid>
                <a:gridCol w="1040000"/>
                <a:gridCol w="1842775"/>
                <a:gridCol w="1906650"/>
                <a:gridCol w="1870150"/>
                <a:gridCol w="1861025"/>
              </a:tblGrid>
              <a:tr h="8086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b="1" lang="en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Memory Type</a:t>
                      </a:r>
                      <a:endParaRPr b="1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95250" marB="95250" marR="38100" marL="3810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b="1" lang="en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Conversation Buffer Memory</a:t>
                      </a:r>
                      <a:endParaRPr b="1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95250" marB="952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b="1" lang="en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Conversation Buffer Window Memory</a:t>
                      </a:r>
                      <a:endParaRPr b="1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95250" marB="952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b="1" lang="en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Conversation Summary Memory</a:t>
                      </a:r>
                      <a:endParaRPr b="1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95250" marB="952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b="1" lang="en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Vector Store Retriever Memory</a:t>
                      </a:r>
                      <a:endParaRPr b="1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95250" marB="952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</a:tr>
              <a:tr h="10573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b="1" lang="en" sz="1350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What it Stores</a:t>
                      </a:r>
                      <a:endParaRPr b="1" sz="1350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93175" marB="93175" marR="38100" marL="3810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1250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Entire conversation history as plain text</a:t>
                      </a:r>
                      <a:endParaRPr sz="1250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133350" marB="1333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1250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Only the most recent k exchanges</a:t>
                      </a:r>
                      <a:endParaRPr sz="1250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133350" marB="1333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1250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Condensed LLM generated summary of past</a:t>
                      </a:r>
                      <a:endParaRPr sz="1250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133350" marB="1333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1250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Embeddings of past conversations in a vector DB</a:t>
                      </a:r>
                      <a:endParaRPr sz="1250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133350" marB="1333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8174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b="1" lang="en" sz="1350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Strengths</a:t>
                      </a:r>
                      <a:endParaRPr b="1" sz="1350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93175" marB="93175" marR="38100" marL="3810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1250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Full context preserved, simple to use</a:t>
                      </a:r>
                      <a:endParaRPr sz="1250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133350" marB="1333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1250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Keeps context relevant, avoids token overload</a:t>
                      </a:r>
                      <a:endParaRPr sz="1250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133350" marB="1333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1250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Saves tokens, retains long term context</a:t>
                      </a:r>
                      <a:endParaRPr sz="1250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133350" marB="1333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1250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Semantic recall across long histories</a:t>
                      </a:r>
                      <a:endParaRPr sz="1250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133350" marB="1333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8174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b="1" lang="en" sz="1350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Limitations</a:t>
                      </a:r>
                      <a:endParaRPr b="1" sz="1350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93175" marB="93175" marR="38100" marL="3810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1250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Can grow too large and exceed token limits</a:t>
                      </a:r>
                      <a:endParaRPr sz="1250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133350" marB="1333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1250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Loses older parts of the conversation</a:t>
                      </a:r>
                      <a:endParaRPr sz="1250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133350" marB="1333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1250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Summaries may miss important details</a:t>
                      </a:r>
                      <a:endParaRPr sz="1250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133350" marB="1333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1250">
                          <a:solidFill>
                            <a:srgbClr val="273239"/>
                          </a:solidFill>
                          <a:highlight>
                            <a:srgbClr val="FFFFFF"/>
                          </a:highlight>
                          <a:latin typeface="Nunito"/>
                          <a:ea typeface="Nunito"/>
                          <a:cs typeface="Nunito"/>
                          <a:sym typeface="Nunito"/>
                        </a:rPr>
                        <a:t>Needs external vector DB, higher setup</a:t>
                      </a:r>
                      <a:endParaRPr sz="1250">
                        <a:solidFill>
                          <a:srgbClr val="273239"/>
                        </a:solidFill>
                        <a:highlight>
                          <a:srgbClr val="FFFFFF"/>
                        </a:highlight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133350" marB="133350" marR="95250" marL="95250" anchor="ctr">
                    <a:lnL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FDF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