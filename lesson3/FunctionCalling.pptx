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4defe0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4defe0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4defe0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4defe0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44defe01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44defe0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44defe01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44defe01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4defe01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4defe01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Calling LLMs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Use/Function calling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Tool use allows LLMs to go beyond text generation by invoking external functions, APIs, or services.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Instead of answering only from their internal knowledge, models can decide: </a:t>
            </a:r>
            <a:r>
              <a:rPr i="1" lang="en" sz="1400">
                <a:solidFill>
                  <a:schemeClr val="dk1"/>
                </a:solidFill>
              </a:rPr>
              <a:t>“I need to call a tool to get this information or perform this action.”</a:t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Common tools: search APIs, vector databases, calculators, custom business logic.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Tool use works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Tool definition:</a:t>
            </a:r>
            <a:r>
              <a:rPr lang="en" sz="1400">
                <a:solidFill>
                  <a:schemeClr val="dk1"/>
                </a:solidFill>
              </a:rPr>
              <a:t> Developers register tools with names, descriptions, and parameter schemas.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Model reasoning:</a:t>
            </a:r>
            <a:r>
              <a:rPr lang="en" sz="1400">
                <a:solidFill>
                  <a:schemeClr val="dk1"/>
                </a:solidFill>
              </a:rPr>
              <a:t> The LLM interprets the user’s request and decides if a tool is relevant.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Tool call:</a:t>
            </a:r>
            <a:r>
              <a:rPr lang="en" sz="1400">
                <a:solidFill>
                  <a:schemeClr val="dk1"/>
                </a:solidFill>
              </a:rPr>
              <a:t> The model outputs a structured request (often JSON) instead of plain text.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Execution:</a:t>
            </a:r>
            <a:r>
              <a:rPr lang="en" sz="1400">
                <a:solidFill>
                  <a:schemeClr val="dk1"/>
                </a:solidFill>
              </a:rPr>
              <a:t> The external tool runs and returns results.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</a:rPr>
              <a:t>Integration:</a:t>
            </a:r>
            <a:r>
              <a:rPr lang="en" sz="1400">
                <a:solidFill>
                  <a:schemeClr val="dk1"/>
                </a:solidFill>
              </a:rPr>
              <a:t> The LLM incorporates the tool’s output into its final response.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Open AI tool calling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13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OpenAI lets you define tools in the </a:t>
            </a:r>
            <a:r>
              <a:rPr lang="en" sz="1400">
                <a:solidFill>
                  <a:srgbClr val="188038"/>
                </a:solidFill>
              </a:rPr>
              <a:t>tools</a:t>
            </a:r>
            <a:r>
              <a:rPr lang="en" sz="1400">
                <a:solidFill>
                  <a:schemeClr val="dk1"/>
                </a:solidFill>
              </a:rPr>
              <a:t> parameter.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The model decides when to call them (</a:t>
            </a:r>
            <a:r>
              <a:rPr lang="en" sz="1400">
                <a:solidFill>
                  <a:srgbClr val="188038"/>
                </a:solidFill>
              </a:rPr>
              <a:t>tool_choice="auto"</a:t>
            </a:r>
            <a:r>
              <a:rPr lang="en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Example: a </a:t>
            </a:r>
            <a:r>
              <a:rPr lang="en" sz="1400">
                <a:solidFill>
                  <a:srgbClr val="188038"/>
                </a:solidFill>
              </a:rPr>
              <a:t>get_weather</a:t>
            </a:r>
            <a:r>
              <a:rPr lang="en" sz="1400">
                <a:solidFill>
                  <a:schemeClr val="dk1"/>
                </a:solidFill>
              </a:rPr>
              <a:t> function is invoked when the user asks “What’s the weather in Paris?”</a:t>
            </a:r>
            <a:endParaRPr sz="1400"/>
          </a:p>
        </p:txBody>
      </p:sp>
      <p:sp>
        <p:nvSpPr>
          <p:cNvPr id="74" name="Google Shape;74;p16"/>
          <p:cNvSpPr txBox="1"/>
          <p:nvPr/>
        </p:nvSpPr>
        <p:spPr>
          <a:xfrm>
            <a:off x="311700" y="2896825"/>
            <a:ext cx="7530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response = client.chat.completions.create(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model="gpt-4o-mini",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messages=[{"role": "user", "content": "What's the weather in Paris?"}],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tools=[...],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tool_choice="auto"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AI response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311700" y="1123225"/>
            <a:ext cx="3484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{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"role": "assistant",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"content": null,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"tool_calls": [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{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"id": "call_abc123",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"type": "function",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"function": {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 "name": "get_weather",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 "arguments": {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   "location": "Paris"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  }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  }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  }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 ]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}</a:t>
            </a:r>
            <a:endParaRPr sz="15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605700" y="1123225"/>
            <a:ext cx="3836100" cy="38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88038"/>
                </a:solidFill>
              </a:rPr>
              <a:t>role: "assistant"</a:t>
            </a:r>
            <a:r>
              <a:rPr lang="en" sz="1400">
                <a:solidFill>
                  <a:schemeClr val="dk1"/>
                </a:solidFill>
              </a:rPr>
              <a:t> → the model is responding.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88038"/>
                </a:solidFill>
              </a:rPr>
              <a:t>content: null</a:t>
            </a:r>
            <a:r>
              <a:rPr lang="en" sz="1400">
                <a:solidFill>
                  <a:schemeClr val="dk1"/>
                </a:solidFill>
              </a:rPr>
              <a:t> → no natural language output yet, because it’s calling a tool.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88038"/>
                </a:solidFill>
              </a:rPr>
              <a:t>tool_calls</a:t>
            </a:r>
            <a:r>
              <a:rPr lang="en" sz="1400">
                <a:solidFill>
                  <a:schemeClr val="dk1"/>
                </a:solidFill>
              </a:rPr>
              <a:t> → structured JSON telling you which tool to invoke.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88038"/>
                </a:solidFill>
              </a:rPr>
              <a:t>function.name</a:t>
            </a:r>
            <a:r>
              <a:rPr lang="en" sz="1400">
                <a:solidFill>
                  <a:schemeClr val="dk1"/>
                </a:solidFill>
              </a:rPr>
              <a:t> → the tool name (</a:t>
            </a:r>
            <a:r>
              <a:rPr lang="en" sz="1400">
                <a:solidFill>
                  <a:srgbClr val="188038"/>
                </a:solidFill>
              </a:rPr>
              <a:t>get_weather</a:t>
            </a:r>
            <a:r>
              <a:rPr lang="en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88038"/>
                </a:solidFill>
              </a:rPr>
              <a:t>arguments</a:t>
            </a:r>
            <a:r>
              <a:rPr lang="en" sz="1400">
                <a:solidFill>
                  <a:schemeClr val="dk1"/>
                </a:solidFill>
              </a:rPr>
              <a:t> → the parameters extracted from the user’s request (</a:t>
            </a:r>
            <a:r>
              <a:rPr lang="en" sz="1400">
                <a:solidFill>
                  <a:srgbClr val="188038"/>
                </a:solidFill>
              </a:rPr>
              <a:t>"Paris"</a:t>
            </a:r>
            <a:r>
              <a:rPr lang="en" sz="1400">
                <a:solidFill>
                  <a:schemeClr val="dk1"/>
                </a:solidFill>
              </a:rPr>
              <a:t>).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tool and send response to model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response = client.chat.completions.create(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    model="gpt-4o-mini",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    messages=[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        {"role": "user", "content": "What's the weather in Paris?"},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        {"role": "assistant", "tool_calls": [...]},  # model’s tool call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        {"role": "tool", "tool_call_id": "call_abc123", "content": result}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    ]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